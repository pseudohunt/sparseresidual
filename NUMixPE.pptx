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6256000" cy="9144000"/>
  <p:notesSz cx="9144000" cy="16256000"/>
  <p:embeddedFontLst>
    <p:embeddedFont>
      <p:font typeface="Quattrocento Sans" charset="-122" pitchFamily="34"/>
      <p:regular r:id="rId26"/>
    </p:embeddedFont>
    <p:embeddedFont>
      <p:font typeface="Liter" charset="-122" pitchFamily="34"/>
      <p:regular r:id="rId2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font" Target="fonts/font1.fntdata"/><Relationship Id="rId27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1524000" y="2032000"/>
            <a:ext cx="1320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0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Non-Uniform Quantization as Shift-Decodable Normalized Bins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858000" y="3810000"/>
            <a:ext cx="2540000" cy="254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5" name="Text 3"/>
          <p:cNvSpPr/>
          <p:nvPr/>
        </p:nvSpPr>
        <p:spPr>
          <a:xfrm>
            <a:off x="5588000" y="4191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Core Idea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62000" y="5080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floating plane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937000" y="508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488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953000" y="5080000"/>
            <a:ext cx="317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normalized plane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0" y="508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488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0" y="50800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non-uniform bin plane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700000" y="50800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488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0" y="50800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2D3A5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shift plane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2D3A5C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Quantization as Plane Mapping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778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Weights begin in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floating space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762000" y="22225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w</m:t>
                      </m:r>
                      <m:r>
                        <a:rPr lang="en-US" sz="1800" dirty="0"/>
                        <m:t>∈</m:t>
                      </m:r>
                      <m:r>
                        <a:rPr lang="en-US" sz="1800" i="1" dirty="0"/>
                        <m:t>R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 3"/>
              <p:cNvSpPr/>
              <p:nvPr/>
            </p:nvSpPr>
            <p:spPr>
              <a:xfrm>
                <a:off x="762000" y="22225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w \in \mathbb{R} )</a:t>
                </a:r>
                <a:endParaRPr lang="en-US" sz="1800" dirty="0"/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762000" y="3048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Normalize magnitude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762000" y="34925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u</m:t>
                      </m:r>
                      <m:r>
                        <a:rPr lang="en-US" sz="18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∣</m:t>
                          </m:r>
                          <m:r>
                            <a:rPr lang="en-US" sz="1300" i="1" dirty="0"/>
                            <m:t>w</m:t>
                          </m:r>
                          <m:r>
                            <a:rPr lang="en-US" sz="1300" dirty="0"/>
                            <m:t>∣</m:t>
                          </m:r>
                        </m:num>
                        <m:den>
                          <m:sSub>
                            <m:sSubPr>
                              <m:ctrlPr>
                                <a:rPr lang="en-US" sz="900" dirty="0"/>
                              </m:ctrlPr>
                            </m:sSubPr>
                            <m:e>
                              <m:r>
                                <a:rPr lang="en-US" sz="900" i="1" dirty="0"/>
                                <m:t>α</m:t>
                              </m:r>
                            </m:e>
                            <m:sub>
                              <m:r>
                                <a:rPr lang="en-US" sz="900" i="1" dirty="0"/>
                                <m:t>g</m:t>
                              </m:r>
                            </m:sub>
                          </m:sSub>
                        </m:den>
                      </m:f>
                      <m:r>
                        <a:rPr lang="en-US" sz="1800" dirty="0"/>
                        <m:t xml:space="preserve"> </m:t>
                      </m:r>
                      <m:r>
                        <a:rPr lang="en-US" sz="1800" dirty="0"/>
                        <m:t>⇒</m:t>
                      </m:r>
                      <m:r>
                        <a:rPr lang="en-US" sz="1800" dirty="0"/>
                        <m:t xml:space="preserve"> </m:t>
                      </m:r>
                      <m:r>
                        <a:rPr lang="en-US" sz="1800" i="1" dirty="0"/>
                        <m:t>u</m:t>
                      </m:r>
                      <m:r>
                        <a:rPr lang="en-US" sz="1800" dirty="0"/>
                        <m:t>∈</m:t>
                      </m:r>
                      <m:r>
                        <a:rPr lang="en-US" sz="1800" dirty="0"/>
                        <m:t>[</m:t>
                      </m:r>
                      <m:r>
                        <a:rPr lang="en-US" sz="1800" dirty="0"/>
                        <m:t>0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1</m:t>
                      </m:r>
                      <m:r>
                        <a:rPr lang="en-US" sz="1800" dirty="0"/>
                        <m:t>]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Text 5"/>
              <p:cNvSpPr/>
              <p:nvPr/>
            </p:nvSpPr>
            <p:spPr>
              <a:xfrm>
                <a:off x="762000" y="34925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u = \frac{|w|}{\alpha_g} \quad \Rightarrow \quad u \in [0,1] )</a:t>
                </a:r>
                <a:endParaRPr lang="en-US" sz="1800" dirty="0"/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762000" y="4318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Then quantization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chooses a bin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762000" y="47625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u</m:t>
                      </m:r>
                      <m:r>
                        <a:rPr lang="en-US" sz="1800" dirty="0"/>
                        <m:t>→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Text 7"/>
              <p:cNvSpPr/>
              <p:nvPr/>
            </p:nvSpPr>
            <p:spPr>
              <a:xfrm>
                <a:off x="762000" y="47625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u \rightarrow m_q )</a:t>
                </a:r>
                <a:endParaRPr lang="en-US" sz="1800" dirty="0"/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762000" y="5588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Final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signed weight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762000" y="6032500"/>
                <a:ext cx="14732000" cy="63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w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i="1" dirty="0"/>
                        <m:t>s</m:t>
                      </m:r>
                      <m:r>
                        <a:rPr lang="en-US" sz="1800" dirty="0"/>
                        <m:t>⋅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α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r>
                        <a:rPr lang="en-US" sz="1800" dirty="0"/>
                        <m:t>⋅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1" name="Text 9"/>
              <p:cNvSpPr/>
              <p:nvPr/>
            </p:nvSpPr>
            <p:spPr>
              <a:xfrm>
                <a:off x="762000" y="6032500"/>
                <a:ext cx="14732000" cy="63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w_q = s \cdot \alpha_g \cdot m_q )</a:t>
                </a:r>
                <a:endParaRPr lang="en-US" sz="1800" dirty="0"/>
              </a:p>
            </p:txBody>
          </p:sp>
        </mc:Fallback>
      </mc:AlternateContent>
      <p:sp>
        <p:nvSpPr>
          <p:cNvPr id="12" name="Text 10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Uniform Quantization View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762000" y="1778000"/>
                <a:ext cx="14732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Uniform quantization divides </a:t>
                </a:r>
                <a:pPr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[</m:t>
                      </m:r>
                      <m:r>
                        <a:rPr lang="en-US" sz="1800" dirty="0"/>
                        <m:t>0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1</m:t>
                      </m:r>
                      <m:r>
                        <a:rPr lang="en-US" sz="1800" dirty="0"/>
                        <m:t>]</m:t>
                      </m:r>
                    </m:oMath>
                  </m:oMathPara>
                </a14:m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into </a:t>
                </a:r>
                <a:pPr>
                  <a:lnSpc>
                    <a:spcPct val="160000"/>
                  </a:lnSpc>
                </a:pPr>
                <a:r>
                  <a:rPr lang="en-US" sz="18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equal bins</a:t>
                </a:r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. For 3-bit magnitude:</a:t>
                </a:r>
                <a:endParaRPr lang="en-US" sz="1800" dirty="0"/>
              </a:p>
            </p:txBody>
          </p:sp>
        </mc:Choice>
        <mc:Fallback xmlns="">
          <p:sp>
            <p:nvSpPr>
              <p:cNvPr id="4" name="Text 2"/>
              <p:cNvSpPr/>
              <p:nvPr/>
            </p:nvSpPr>
            <p:spPr>
              <a:xfrm>
                <a:off x="762000" y="1778000"/>
                <a:ext cx="14732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Uniform quantization divides </a:t>
                </a:r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[0,1] )</a:t>
                </a:r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into </a:t>
                </a:r>
                <a:pPr>
                  <a:lnSpc>
                    <a:spcPct val="160000"/>
                  </a:lnSpc>
                </a:pPr>
                <a:r>
                  <a:rPr lang="en-US" sz="18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equal bins</a:t>
                </a:r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. For 3-bit magnitude: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762000" y="2476500"/>
                <a:ext cx="14732000" cy="15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u</m:t>
                          </m:r>
                          <m:r>
                            <a:rPr lang="en-US" sz="1300" i="1" dirty="0"/>
                            <m:t>n</m:t>
                          </m:r>
                          <m:r>
                            <a:rPr lang="en-US" sz="1300" i="1" dirty="0"/>
                            <m:t>i</m:t>
                          </m:r>
                          <m:r>
                            <a:rPr lang="en-US" sz="1300" i="1" dirty="0"/>
                            <m:t>f</m:t>
                          </m:r>
                          <m:r>
                            <a:rPr lang="en-US" sz="1300" i="1" dirty="0"/>
                            <m:t>o</m:t>
                          </m:r>
                          <m:r>
                            <a:rPr lang="en-US" sz="1300" i="1" dirty="0"/>
                            <m:t>r</m:t>
                          </m:r>
                          <m:r>
                            <a:rPr lang="en-US" sz="1300" i="1" dirty="0"/>
                            <m:t>m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{</m:t>
                      </m:r>
                      <m:r>
                        <a:rPr lang="en-US" sz="1800" dirty="0"/>
                        <m:t>0</m:t>
                      </m:r>
                      <m:r>
                        <a:rPr lang="en-US" sz="1800" dirty="0"/>
                        <m:t>,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1</m:t>
                          </m:r>
                        </m:num>
                        <m:den>
                          <m:r>
                            <a:rPr lang="en-US" sz="1300" dirty="0"/>
                            <m:t>7</m:t>
                          </m:r>
                        </m:den>
                      </m:f>
                      <m:r>
                        <a:rPr lang="en-US" sz="1800" dirty="0"/>
                        <m:t>,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2</m:t>
                          </m:r>
                        </m:num>
                        <m:den>
                          <m:r>
                            <a:rPr lang="en-US" sz="1300" dirty="0"/>
                            <m:t>7</m:t>
                          </m:r>
                        </m:den>
                      </m:f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…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1</m:t>
                      </m:r>
                      <m:r>
                        <a:rPr lang="en-US" sz="1800" dirty="0"/>
                        <m:t>}</m:t>
                      </m:r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20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The code is interpreted as an integer: </a:t>
                </a:r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dirty="0"/>
                            <m:t>101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5</m:t>
                      </m:r>
                      <m:r>
                        <a:rPr lang="en-US" sz="1800" dirty="0"/>
                        <m:t xml:space="preserve"> </m:t>
                      </m:r>
                      <m:r>
                        <a:rPr lang="en-US" sz="1800" dirty="0"/>
                        <m:t>⇒</m:t>
                      </m:r>
                      <m:r>
                        <a:rPr lang="en-US" sz="1800" dirty="0"/>
                        <m:t xml:space="preserve"> 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5</m:t>
                          </m:r>
                        </m:num>
                        <m:den>
                          <m:r>
                            <a:rPr lang="en-US" sz="1300" dirty="0"/>
                            <m:t>7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 3"/>
              <p:cNvSpPr/>
              <p:nvPr/>
            </p:nvSpPr>
            <p:spPr>
              <a:xfrm>
                <a:off x="762000" y="2476500"/>
                <a:ext cx="14732000" cy="1524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20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\mathcal{M}_{uniform} = \left\{ 0, \frac{1}{7}, \frac{2}{7}, \ldots, 1 \right\} )</a:t>
                </a:r>
                <a:endParaRPr lang="en-US" sz="1800" dirty="0"/>
              </a:p>
              <a:p>
                <a:pPr>
                  <a:lnSpc>
                    <a:spcPct val="20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The code is interpreted as an integer: </a:t>
                </a:r>
                <a:pPr>
                  <a:lnSpc>
                    <a:spcPct val="20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( 101_2 = 5 \quad \Rightarrow \quad m_q = \frac{5}{7} )</a:t>
                </a:r>
                <a:endParaRPr lang="en-US" sz="1800" dirty="0"/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762000" y="4635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 uniform quantization is: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62000" y="5334000"/>
            <a:ext cx="6350000" cy="762000"/>
          </a:xfrm>
          <a:prstGeom prst="roundRect">
            <a:avLst>
              <a:gd name="adj" fmla="val 5000"/>
            </a:avLst>
          </a:prstGeom>
          <a:solidFill>
            <a:srgbClr val="ECECEA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 6"/>
              <p:cNvSpPr/>
              <p:nvPr/>
            </p:nvSpPr>
            <p:spPr>
              <a:xfrm>
                <a:off x="1016000" y="5334000"/>
                <a:ext cx="5842000" cy="762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80000"/>
                  </a:lnSpc>
                </a:pPr>
                <a:r>
                  <a:rPr lang="en-US" sz="18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code</a:t>
                </a:r>
                <a:pPr algn="ctr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 algn="ctr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dirty="0"/>
                        <m:t>→</m:t>
                      </m:r>
                    </m:oMath>
                  </m:oMathPara>
                </a14:m>
                <a:pPr algn="ctr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 algn="ctr">
                  <a:lnSpc>
                    <a:spcPct val="180000"/>
                  </a:lnSpc>
                </a:pPr>
                <a:r>
                  <a:rPr lang="en-US" sz="18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integer</a:t>
                </a:r>
                <a:pPr algn="ctr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 algn="ctr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800" dirty="0"/>
                        <m:t>→</m:t>
                      </m:r>
                    </m:oMath>
                  </m:oMathPara>
                </a14:m>
                <a:pPr algn="ctr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 algn="ctr">
                  <a:lnSpc>
                    <a:spcPct val="180000"/>
                  </a:lnSpc>
                </a:pPr>
                <a:r>
                  <a:rPr lang="en-US" sz="18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uniform bin</a:t>
                </a:r>
                <a:endParaRPr lang="en-US" sz="1800" dirty="0"/>
              </a:p>
            </p:txBody>
          </p:sp>
        </mc:Choice>
        <mc:Fallback xmlns="">
          <p:sp>
            <p:nvSpPr>
              <p:cNvPr id="8" name="Text 6"/>
              <p:cNvSpPr/>
              <p:nvPr/>
            </p:nvSpPr>
            <p:spPr>
              <a:xfrm>
                <a:off x="1016000" y="5334000"/>
                <a:ext cx="5842000" cy="762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80000"/>
                  </a:lnSpc>
                </a:pPr>
                <a:r>
                  <a:rPr lang="en-US" sz="18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code</a:t>
                </a:r>
                <a:pPr algn="ctr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 algn="ctr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\rightarrow )</a:t>
                </a:r>
                <a:pPr algn="ctr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 algn="ctr">
                  <a:lnSpc>
                    <a:spcPct val="180000"/>
                  </a:lnSpc>
                </a:pPr>
                <a:r>
                  <a:rPr lang="en-US" sz="18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integer</a:t>
                </a:r>
                <a:pPr algn="ctr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 algn="ctr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\rightarrow )</a:t>
                </a:r>
                <a:pPr algn="ctr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 algn="ctr">
                  <a:lnSpc>
                    <a:spcPct val="180000"/>
                  </a:lnSpc>
                </a:pPr>
                <a:r>
                  <a:rPr lang="en-US" sz="18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uniform bin</a:t>
                </a:r>
                <a:endParaRPr lang="en-US" sz="1800" dirty="0"/>
              </a:p>
            </p:txBody>
          </p:sp>
        </mc:Fallback>
      </mc:AlternateContent>
      <p:sp>
        <p:nvSpPr>
          <p:cNvPr id="9" name="Text 7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 Non-Uniform Bin Plane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587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Instead of equal bins, use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non-uniform bins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normalized plane: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762000" y="21590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M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{</m:t>
                      </m:r>
                      <m:r>
                        <a:rPr lang="en-US" sz="1800" dirty="0"/>
                        <m:t>0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 </m:t>
                      </m:r>
                      <m:r>
                        <a:rPr lang="en-US" sz="1800" dirty="0"/>
                        <m:t>0.0625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 </m:t>
                      </m:r>
                      <m:r>
                        <a:rPr lang="en-US" sz="1800" dirty="0"/>
                        <m:t>0.125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 </m:t>
                      </m:r>
                      <m:r>
                        <a:rPr lang="en-US" sz="1800" dirty="0"/>
                        <m:t>0.1875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 </m:t>
                      </m:r>
                      <m:r>
                        <a:rPr lang="en-US" sz="1800" dirty="0"/>
                        <m:t>0.25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 </m:t>
                      </m:r>
                      <m:r>
                        <a:rPr lang="en-US" sz="1800" dirty="0"/>
                        <m:t>0.375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 </m:t>
                      </m:r>
                      <m:r>
                        <a:rPr lang="en-US" sz="1800" dirty="0"/>
                        <m:t>0.5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 </m:t>
                      </m:r>
                      <m:r>
                        <a:rPr lang="en-US" sz="1800" dirty="0"/>
                        <m:t>0.625</m:t>
                      </m:r>
                      <m:r>
                        <a:rPr lang="en-US" sz="1800" dirty="0"/>
                        <m:t>}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 3"/>
              <p:cNvSpPr/>
              <p:nvPr/>
            </p:nvSpPr>
            <p:spPr>
              <a:xfrm>
                <a:off x="762000" y="21590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\mathcal{M} = \{0,\ 0.0625,\ 0.125,\ 0.1875,\ 0.25,\ 0.375,\ 0.5,\ 0.625\} )</a:t>
                </a:r>
                <a:endParaRPr lang="en-US" sz="1800" dirty="0"/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762000" y="2921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Equivalent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 form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762000" y="3429000"/>
                <a:ext cx="14732000" cy="63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600" i="1" dirty="0"/>
                        <m:t>M</m:t>
                      </m:r>
                      <m:r>
                        <a:rPr lang="en-US" sz="1600" dirty="0"/>
                        <m:t>=</m:t>
                      </m:r>
                      <m:r>
                        <a:rPr lang="en-US" sz="1600" dirty="0"/>
                        <m:t>{</m:t>
                      </m:r>
                      <m:r>
                        <a:rPr lang="en-US" sz="1600" dirty="0"/>
                        <m:t>0</m:t>
                      </m:r>
                      <m:r>
                        <a:rPr lang="en-US" sz="1600" dirty="0"/>
                        <m:t>,</m:t>
                      </m:r>
                      <m:r>
                        <a:rPr lang="en-US" sz="1600" dirty="0"/>
                        <m:t> 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dirty="0"/>
                            <m:t>2</m:t>
                          </m:r>
                        </m:e>
                        <m:sup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4</m:t>
                          </m:r>
                        </m:sup>
                      </m:sSup>
                      <m:r>
                        <a:rPr lang="en-US" sz="1600" dirty="0"/>
                        <m:t>,</m:t>
                      </m:r>
                      <m:r>
                        <a:rPr lang="en-US" sz="1600" dirty="0"/>
                        <m:t> 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dirty="0"/>
                            <m:t>2</m:t>
                          </m:r>
                        </m:e>
                        <m:sup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3</m:t>
                          </m:r>
                        </m:sup>
                      </m:sSup>
                      <m:r>
                        <a:rPr lang="en-US" sz="1600" dirty="0"/>
                        <m:t>,</m:t>
                      </m:r>
                      <m:r>
                        <a:rPr lang="en-US" sz="1600" dirty="0"/>
                        <m:t> 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dirty="0"/>
                            <m:t>2</m:t>
                          </m:r>
                        </m:e>
                        <m:sup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3</m:t>
                          </m:r>
                        </m:sup>
                      </m:sSup>
                      <m:r>
                        <a:rPr lang="en-US" sz="1600" dirty="0"/>
                        <m:t>+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dirty="0"/>
                            <m:t>2</m:t>
                          </m:r>
                        </m:e>
                        <m:sup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4</m:t>
                          </m:r>
                        </m:sup>
                      </m:sSup>
                      <m:r>
                        <a:rPr lang="en-US" sz="1600" dirty="0"/>
                        <m:t>,</m:t>
                      </m:r>
                      <m:r>
                        <a:rPr lang="en-US" sz="1600" dirty="0"/>
                        <m:t> 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dirty="0"/>
                            <m:t>2</m:t>
                          </m:r>
                        </m:e>
                        <m:sup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2</m:t>
                          </m:r>
                        </m:sup>
                      </m:sSup>
                      <m:r>
                        <a:rPr lang="en-US" sz="1600" dirty="0"/>
                        <m:t>,</m:t>
                      </m:r>
                      <m:r>
                        <a:rPr lang="en-US" sz="1600" dirty="0"/>
                        <m:t> 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dirty="0"/>
                            <m:t>2</m:t>
                          </m:r>
                        </m:e>
                        <m:sup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2</m:t>
                          </m:r>
                        </m:sup>
                      </m:sSup>
                      <m:r>
                        <a:rPr lang="en-US" sz="1600" dirty="0"/>
                        <m:t>+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dirty="0"/>
                            <m:t>2</m:t>
                          </m:r>
                        </m:e>
                        <m:sup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3</m:t>
                          </m:r>
                        </m:sup>
                      </m:sSup>
                      <m:r>
                        <a:rPr lang="en-US" sz="1600" dirty="0"/>
                        <m:t>,</m:t>
                      </m:r>
                      <m:r>
                        <a:rPr lang="en-US" sz="1600" dirty="0"/>
                        <m:t> 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dirty="0"/>
                            <m:t>2</m:t>
                          </m:r>
                        </m:e>
                        <m:sup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1</m:t>
                          </m:r>
                        </m:sup>
                      </m:sSup>
                      <m:r>
                        <a:rPr lang="en-US" sz="1600" dirty="0"/>
                        <m:t>,</m:t>
                      </m:r>
                      <m:r>
                        <a:rPr lang="en-US" sz="1600" dirty="0"/>
                        <m:t> 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dirty="0"/>
                            <m:t>2</m:t>
                          </m:r>
                        </m:e>
                        <m:sup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1</m:t>
                          </m:r>
                        </m:sup>
                      </m:sSup>
                      <m:r>
                        <a:rPr lang="en-US" sz="1600" dirty="0"/>
                        <m:t>+</m:t>
                      </m:r>
                      <m:sSup>
                        <m:sSupPr>
                          <m:ctrlPr>
                            <a:rPr lang="en-US" sz="1100" dirty="0"/>
                          </m:ctrlPr>
                        </m:sSupPr>
                        <m:e>
                          <m:r>
                            <a:rPr lang="en-US" sz="1100" dirty="0"/>
                            <m:t>2</m:t>
                          </m:r>
                        </m:e>
                        <m:sup>
                          <m:r>
                            <a:rPr lang="en-US" sz="1100" dirty="0"/>
                            <m:t>−</m:t>
                          </m:r>
                          <m:r>
                            <a:rPr lang="en-US" sz="1100" dirty="0"/>
                            <m:t>3</m:t>
                          </m:r>
                        </m:sup>
                      </m:sSup>
                      <m:r>
                        <a:rPr lang="en-US" sz="1600" dirty="0"/>
                        <m:t>}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7" name="Text 5"/>
              <p:cNvSpPr/>
              <p:nvPr/>
            </p:nvSpPr>
            <p:spPr>
              <a:xfrm>
                <a:off x="762000" y="3429000"/>
                <a:ext cx="14732000" cy="63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\mathcal{M} = \{0,\ 2^{-4},\ 2^{-3},\ 2^{-3}+2^{-4},\ 2^{-2},\ 2^{-2}+2^{-3},\ 2^{-1},\ 2^{-1}+2^{-3}\} )</a:t>
                </a:r>
                <a:endParaRPr lang="en-US" sz="1600" dirty="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762000" y="4381500"/>
            <a:ext cx="14732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46990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places more bins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near zero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where weight density is usually higher. Non-uniform quantization is motivated by the fact that neural-network weights are concentrated near zero, while power-of-two forms can replace multiplication with shifting.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6350000"/>
            <a:ext cx="50800" cy="10160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11" name="Shape 9"/>
          <p:cNvSpPr/>
          <p:nvPr/>
        </p:nvSpPr>
        <p:spPr>
          <a:xfrm>
            <a:off x="812800" y="6350000"/>
            <a:ext cx="14681200" cy="1016000"/>
          </a:xfrm>
          <a:prstGeom prst="rect">
            <a:avLst/>
          </a:prstGeom>
          <a:solidFill>
            <a:srgbClr val="C4882E">
              <a:alpha val="8235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6477000"/>
            <a:ext cx="141732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insight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 More precision where weights are dense + shift operations replace multipliers.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Difference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code is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interpreted as a normal integer.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4130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Uniform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62000" y="2921000"/>
            <a:ext cx="6604000" cy="1397000"/>
          </a:xfrm>
          <a:prstGeom prst="roundRect">
            <a:avLst>
              <a:gd name="adj" fmla="val 5000"/>
            </a:avLst>
          </a:prstGeom>
          <a:solidFill>
            <a:srgbClr val="ECECEA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1016000" y="3048000"/>
                <a:ext cx="6096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dirty="0"/>
                            <m:t>101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5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f>
                        <m:fPr>
                          <m:type m:val="bar"/>
                        </m:fPr>
                        <m:num>
                          <m:r>
                            <a:rPr lang="en-US" sz="1300" dirty="0"/>
                            <m:t>5</m:t>
                          </m:r>
                        </m:num>
                        <m:den>
                          <m:r>
                            <a:rPr lang="en-US" sz="1300" dirty="0"/>
                            <m:t>7</m:t>
                          </m:r>
                        </m:den>
                      </m:f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Text 5"/>
              <p:cNvSpPr/>
              <p:nvPr/>
            </p:nvSpPr>
            <p:spPr>
              <a:xfrm>
                <a:off x="1016000" y="3048000"/>
                <a:ext cx="6096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( 101_2 = 5 )</a:t>
                </a:r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m_q = \frac{5}{7} )</a:t>
                </a:r>
                <a:endParaRPr lang="en-US" sz="1800" dirty="0"/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7874000" y="2413000"/>
            <a:ext cx="762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488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Proposed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7874000" y="2921000"/>
            <a:ext cx="7620000" cy="1397000"/>
          </a:xfrm>
          <a:prstGeom prst="roundRect">
            <a:avLst>
              <a:gd name="adj" fmla="val 5000"/>
            </a:avLst>
          </a:prstGeom>
          <a:solidFill>
            <a:srgbClr val="C4882E">
              <a:alpha val="8235"/>
            </a:srgbClr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8128000" y="3048000"/>
                <a:ext cx="7112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101</m:t>
                      </m:r>
                      <m:r>
                        <a:rPr lang="en-US" sz="1800" dirty="0"/>
                        <m:t>→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2</m:t>
                          </m:r>
                        </m:e>
                        <m:sup>
                          <m:r>
                            <a:rPr lang="en-US" sz="1300" dirty="0"/>
                            <m:t>−</m:t>
                          </m:r>
                          <m:r>
                            <a:rPr lang="en-US" sz="1300" dirty="0"/>
                            <m:t>2</m:t>
                          </m:r>
                        </m:sup>
                      </m:sSup>
                      <m:r>
                        <a:rPr lang="en-US" sz="1800" dirty="0"/>
                        <m:t>+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2</m:t>
                          </m:r>
                        </m:e>
                        <m:sup>
                          <m:r>
                            <a:rPr lang="en-US" sz="1300" dirty="0"/>
                            <m:t>−</m:t>
                          </m:r>
                          <m:r>
                            <a:rPr lang="en-US" sz="1300" dirty="0"/>
                            <m:t>3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0.25</m:t>
                      </m:r>
                      <m:r>
                        <a:rPr lang="en-US" sz="1800" dirty="0"/>
                        <m:t>+</m:t>
                      </m:r>
                      <m:r>
                        <a:rPr lang="en-US" sz="1800" dirty="0"/>
                        <m:t>0.125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0.375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Text 8"/>
              <p:cNvSpPr/>
              <p:nvPr/>
            </p:nvSpPr>
            <p:spPr>
              <a:xfrm>
                <a:off x="8128000" y="3048000"/>
                <a:ext cx="7112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( 101 \rightarrow 2^{-2} + 2^{-3} )</a:t>
                </a:r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m_q = 0.25 + 0.125 = 0.375 )</a:t>
                </a:r>
                <a:endParaRPr lang="en-US" sz="1800" dirty="0"/>
              </a:p>
            </p:txBody>
          </p:sp>
        </mc:Fallback>
      </mc:AlternateContent>
      <p:sp>
        <p:nvSpPr>
          <p:cNvPr id="11" name="Shape 9"/>
          <p:cNvSpPr/>
          <p:nvPr/>
        </p:nvSpPr>
        <p:spPr>
          <a:xfrm>
            <a:off x="7620000" y="2413000"/>
            <a:ext cx="0" cy="1905000"/>
          </a:xfrm>
          <a:prstGeom prst="straightConnector1">
            <a:avLst/>
          </a:prstGeom>
          <a:noFill/>
          <a:ln w="12700">
            <a:solidFill>
              <a:srgbClr val="D0D0D0"/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762000" y="4953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 the code means: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318000" y="5715000"/>
            <a:ext cx="7620000" cy="889000"/>
          </a:xfrm>
          <a:prstGeom prst="roundRect">
            <a:avLst>
              <a:gd name="adj" fmla="val 5000"/>
            </a:avLst>
          </a:prstGeom>
          <a:solidFill>
            <a:srgbClr val="C4882E">
              <a:alpha val="8235"/>
            </a:srgbClr>
          </a:solidFill>
          <a:ln w="25400">
            <a:solidFill>
              <a:srgbClr val="C488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5715000"/>
            <a:ext cx="711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shift pattern, not integer value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 + Magnitude Storage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For symmetric LLM weight quantization: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762000" y="22860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stored code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[</m:t>
                      </m:r>
                      <m:r>
                        <a:rPr lang="en-US" sz="1800" dirty="0"/>
                        <m:t>sign bit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 magnitude bits</m:t>
                      </m:r>
                      <m:r>
                        <a:rPr lang="en-US" sz="1800" dirty="0"/>
                        <m:t>]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 3"/>
              <p:cNvSpPr/>
              <p:nvPr/>
            </p:nvSpPr>
            <p:spPr>
              <a:xfrm>
                <a:off x="762000" y="22860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\text{stored code} = [\text{sign bit},\ \text{magnitude bits}] )</a:t>
                </a:r>
                <a:endParaRPr lang="en-US" sz="1800" dirty="0"/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762000" y="3175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Magnitude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3302000" y="3175000"/>
                <a:ext cx="12192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  <m:r>
                        <a:rPr lang="en-US" sz="1800" dirty="0"/>
                        <m:t>∈</m:t>
                      </m:r>
                      <m:r>
                        <a:rPr lang="en-US" sz="1800" i="1" dirty="0"/>
                        <m:t>M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Text 5"/>
              <p:cNvSpPr/>
              <p:nvPr/>
            </p:nvSpPr>
            <p:spPr>
              <a:xfrm>
                <a:off x="3302000" y="3175000"/>
                <a:ext cx="12192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m_q \in \mathcal{M} )</a:t>
                </a:r>
                <a:endParaRPr lang="en-US" sz="1800" dirty="0"/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762000" y="3810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Sign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3302000" y="3810000"/>
                <a:ext cx="12192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s</m:t>
                      </m:r>
                      <m:r>
                        <a:rPr lang="en-US" sz="1800" dirty="0"/>
                        <m:t>∈</m:t>
                      </m:r>
                      <m:r>
                        <a:rPr lang="en-US" sz="1800" dirty="0"/>
                        <m:t>{</m:t>
                      </m:r>
                      <m:r>
                        <a:rPr lang="en-US" sz="1800" dirty="0"/>
                        <m:t>−</m:t>
                      </m:r>
                      <m:r>
                        <a:rPr lang="en-US" sz="1800" dirty="0"/>
                        <m:t>1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+</m:t>
                      </m:r>
                      <m:r>
                        <a:rPr lang="en-US" sz="1800" dirty="0"/>
                        <m:t>1</m:t>
                      </m:r>
                      <m:r>
                        <a:rPr lang="en-US" sz="1800" dirty="0"/>
                        <m:t>}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Text 7"/>
              <p:cNvSpPr/>
              <p:nvPr/>
            </p:nvSpPr>
            <p:spPr>
              <a:xfrm>
                <a:off x="3302000" y="3810000"/>
                <a:ext cx="12192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s \in \{-1, +1\} )</a:t>
                </a:r>
                <a:endParaRPr lang="en-US" sz="1800" dirty="0"/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762000" y="4445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Final weight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3302000" y="4445000"/>
                <a:ext cx="1219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w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i="1" dirty="0"/>
                        <m:t>s</m:t>
                      </m:r>
                      <m:r>
                        <a:rPr lang="en-US" sz="1800" dirty="0"/>
                        <m:t>⋅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α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r>
                        <a:rPr lang="en-US" sz="1800" dirty="0"/>
                        <m:t>⋅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1" name="Text 9"/>
              <p:cNvSpPr/>
              <p:nvPr/>
            </p:nvSpPr>
            <p:spPr>
              <a:xfrm>
                <a:off x="3302000" y="4445000"/>
                <a:ext cx="1219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w_q = s \cdot \alpha_g \cdot m_q )</a:t>
                </a:r>
                <a:endParaRPr lang="en-US" sz="1800" dirty="0"/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762000" y="5334000"/>
            <a:ext cx="14732000" cy="12700"/>
          </a:xfrm>
          <a:prstGeom prst="rect">
            <a:avLst/>
          </a:prstGeom>
          <a:solidFill>
            <a:srgbClr val="D0D0D0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762000" y="5715000"/>
                <a:ext cx="14732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For 3-bit magnitude plus sign: </a:t>
                </a:r>
                <a:pPr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b="1" dirty="0">
                              <a:solidFill>
                                <a:srgbClr val="C4882E"/>
                              </a:solidFill>
                            </a:rPr>
                          </m:ctrlPr>
                        </m:sSubPr>
                        <m:e>
                          <m:r>
                            <a:rPr lang="en-US" sz="1300" b="1" i="1" dirty="0">
                              <a:solidFill>
                                <a:srgbClr val="C4882E"/>
                              </a:solidFill>
                            </a:rPr>
                            <m:t>B</m:t>
                          </m:r>
                        </m:e>
                        <m:sub>
                          <m:r>
                            <a:rPr lang="en-US" sz="1300" b="1" i="1" dirty="0">
                              <a:solidFill>
                                <a:srgbClr val="C4882E"/>
                              </a:solidFill>
                            </a:rPr>
                            <m:t>t</m:t>
                          </m:r>
                          <m:r>
                            <a:rPr lang="en-US" sz="1300" b="1" i="1" dirty="0">
                              <a:solidFill>
                                <a:srgbClr val="C4882E"/>
                              </a:solidFill>
                            </a:rPr>
                            <m:t>o</m:t>
                          </m:r>
                          <m:r>
                            <a:rPr lang="en-US" sz="1300" b="1" i="1" dirty="0">
                              <a:solidFill>
                                <a:srgbClr val="C4882E"/>
                              </a:solidFill>
                            </a:rPr>
                            <m:t>t</m:t>
                          </m:r>
                          <m:r>
                            <a:rPr lang="en-US" sz="1300" b="1" i="1" dirty="0">
                              <a:solidFill>
                                <a:srgbClr val="C4882E"/>
                              </a:solidFill>
                            </a:rPr>
                            <m:t>a</m:t>
                          </m:r>
                          <m:r>
                            <a:rPr lang="en-US" sz="1300" b="1" i="1" dirty="0">
                              <a:solidFill>
                                <a:srgbClr val="C4882E"/>
                              </a:solidFill>
                            </a:rPr>
                            <m:t>l</m:t>
                          </m:r>
                        </m:sub>
                      </m:sSub>
                      <m:r>
                        <a:rPr lang="en-US" sz="1800" b="1" dirty="0">
                          <a:solidFill>
                            <a:srgbClr val="C4882E"/>
                          </a:solidFill>
                        </a:rPr>
                        <m:t>=</m:t>
                      </m:r>
                      <m:r>
                        <a:rPr lang="en-US" sz="1800" b="1" dirty="0">
                          <a:solidFill>
                            <a:srgbClr val="C4882E"/>
                          </a:solidFill>
                        </a:rPr>
                        <m:t>4</m:t>
                      </m:r>
                    </m:oMath>
                  </m:oMathPara>
                </a14:m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bits per weight.</a:t>
                </a:r>
                <a:endParaRPr lang="en-US" sz="1800" dirty="0"/>
              </a:p>
            </p:txBody>
          </p:sp>
        </mc:Choice>
        <mc:Fallback xmlns="">
          <p:sp>
            <p:nvSpPr>
              <p:cNvPr id="13" name="Text 11"/>
              <p:cNvSpPr/>
              <p:nvPr/>
            </p:nvSpPr>
            <p:spPr>
              <a:xfrm>
                <a:off x="762000" y="5715000"/>
                <a:ext cx="14732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For 3-bit magnitude plus sign: </a:t>
                </a:r>
                <a:pPr>
                  <a:lnSpc>
                    <a:spcPct val="160000"/>
                  </a:lnSpc>
                </a:pPr>
                <a:r>
                  <a:rPr lang="en-US" sz="1800" b="1" dirty="0">
                    <a:solidFill>
                      <a:srgbClr val="C4882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B_{total} = 4 )</a:t>
                </a:r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bits per weight.</a:t>
                </a:r>
                <a:endParaRPr lang="en-US" sz="1800" dirty="0"/>
              </a:p>
            </p:txBody>
          </p:sp>
        </mc:Fallback>
      </mc:AlternateContent>
      <p:sp>
        <p:nvSpPr>
          <p:cNvPr id="14" name="Text 12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Dequantization Becomes Fast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762000" y="1651000"/>
                <a:ext cx="14732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8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Example</a:t>
                </a:r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: </a:t>
                </a:r>
                <a:pPr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2</m:t>
                          </m:r>
                        </m:e>
                        <m:sup>
                          <m:r>
                            <a:rPr lang="en-US" sz="1300" dirty="0"/>
                            <m:t>−</m:t>
                          </m:r>
                          <m:r>
                            <a:rPr lang="en-US" sz="1300" dirty="0"/>
                            <m:t>2</m:t>
                          </m:r>
                        </m:sup>
                      </m:sSup>
                      <m:r>
                        <a:rPr lang="en-US" sz="1800" dirty="0"/>
                        <m:t>+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2</m:t>
                          </m:r>
                        </m:e>
                        <m:sup>
                          <m:r>
                            <a:rPr lang="en-US" sz="1300" dirty="0"/>
                            <m:t>−</m:t>
                          </m:r>
                          <m:r>
                            <a:rPr lang="en-US" sz="1300" dirty="0"/>
                            <m:t>3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Text 2"/>
              <p:cNvSpPr/>
              <p:nvPr/>
            </p:nvSpPr>
            <p:spPr>
              <a:xfrm>
                <a:off x="762000" y="1651000"/>
                <a:ext cx="14732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8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Example</a:t>
                </a:r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: </a:t>
                </a:r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m_q = 2^{-2} + 2^{-3} )</a:t>
                </a:r>
                <a:endParaRPr lang="en-US" sz="1800" dirty="0"/>
              </a:p>
            </p:txBody>
          </p:sp>
        </mc:Fallback>
      </mc:AlternateContent>
      <p:sp>
        <p:nvSpPr>
          <p:cNvPr id="5" name="Text 3"/>
          <p:cNvSpPr/>
          <p:nvPr/>
        </p:nvSpPr>
        <p:spPr>
          <a:xfrm>
            <a:off x="762000" y="2286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762000" y="2730500"/>
                <a:ext cx="14732000" cy="571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w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=</m:t>
                      </m:r>
                      <m:r>
                        <a:rPr lang="en-US" sz="1800" i="1" dirty="0"/>
                        <m:t>s</m:t>
                      </m:r>
                      <m:r>
                        <a:rPr lang="en-US" sz="1800" dirty="0"/>
                        <m:t>⋅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α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r>
                        <a:rPr lang="en-US" sz="1800" dirty="0"/>
                        <m:t>⋅</m:t>
                      </m:r>
                      <m:r>
                        <a:rPr lang="en-US" sz="1800" dirty="0"/>
                        <m:t>(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2</m:t>
                          </m:r>
                        </m:e>
                        <m:sup>
                          <m:r>
                            <a:rPr lang="en-US" sz="1300" dirty="0"/>
                            <m:t>−</m:t>
                          </m:r>
                          <m:r>
                            <a:rPr lang="en-US" sz="1300" dirty="0"/>
                            <m:t>2</m:t>
                          </m:r>
                        </m:sup>
                      </m:sSup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+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2</m:t>
                          </m:r>
                        </m:e>
                        <m:sup>
                          <m:r>
                            <a:rPr lang="en-US" sz="1300" dirty="0"/>
                            <m:t>−</m:t>
                          </m:r>
                          <m:r>
                            <a:rPr lang="en-US" sz="1300" dirty="0"/>
                            <m:t>3</m:t>
                          </m:r>
                        </m:sup>
                      </m:sSup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Text 4"/>
              <p:cNvSpPr/>
              <p:nvPr/>
            </p:nvSpPr>
            <p:spPr>
              <a:xfrm>
                <a:off x="762000" y="2730500"/>
                <a:ext cx="14732000" cy="571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w_q x = s \cdot \alpha_g \cdot (2^{-2}x + 2^{-3}x) )</a:t>
                </a:r>
                <a:endParaRPr lang="en-US" sz="1800" dirty="0"/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762000" y="3683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Hardware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62000" y="4191000"/>
            <a:ext cx="6858000" cy="1270000"/>
          </a:xfrm>
          <a:prstGeom prst="roundRect">
            <a:avLst>
              <a:gd name="adj" fmla="val 5000"/>
            </a:avLst>
          </a:prstGeom>
          <a:solidFill>
            <a:srgbClr val="ECECEA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1016000" y="4254500"/>
                <a:ext cx="6350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2</m:t>
                          </m:r>
                        </m:e>
                        <m:sup>
                          <m:r>
                            <a:rPr lang="en-US" sz="1300" dirty="0"/>
                            <m:t>−</m:t>
                          </m:r>
                          <m:r>
                            <a:rPr lang="en-US" sz="1300" dirty="0"/>
                            <m:t>2</m:t>
                          </m:r>
                        </m:sup>
                      </m:sSup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=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2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2</m:t>
                          </m:r>
                        </m:e>
                        <m:sup>
                          <m:r>
                            <a:rPr lang="en-US" sz="1300" dirty="0"/>
                            <m:t>−</m:t>
                          </m:r>
                          <m:r>
                            <a:rPr lang="en-US" sz="1300" dirty="0"/>
                            <m:t>3</m:t>
                          </m:r>
                        </m:sup>
                      </m:sSup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=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3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Text 7"/>
              <p:cNvSpPr/>
              <p:nvPr/>
            </p:nvSpPr>
            <p:spPr>
              <a:xfrm>
                <a:off x="1016000" y="4254500"/>
                <a:ext cx="6350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( 2^{-2}x = x \gg 2 )</a:t>
                </a:r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( 2^{-3}x = x \gg 3 )</a:t>
                </a:r>
                <a:endParaRPr lang="en-US" sz="1800" dirty="0"/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762000" y="5588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762000" y="6096000"/>
                <a:ext cx="14732000" cy="571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w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=</m:t>
                      </m:r>
                      <m:r>
                        <a:rPr lang="en-US" sz="1800" i="1" dirty="0"/>
                        <m:t>s</m:t>
                      </m:r>
                      <m:r>
                        <a:rPr lang="en-US" sz="1800" dirty="0"/>
                        <m:t>⋅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α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r>
                        <a:rPr lang="en-US" sz="1800" dirty="0"/>
                        <m:t>⋅</m:t>
                      </m:r>
                      <m:r>
                        <a:rPr lang="en-US" sz="1800" dirty="0"/>
                        <m:t>[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2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+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3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]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1" name="Text 9"/>
              <p:cNvSpPr/>
              <p:nvPr/>
            </p:nvSpPr>
            <p:spPr>
              <a:xfrm>
                <a:off x="762000" y="6096000"/>
                <a:ext cx="14732000" cy="571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w_q x = s \cdot \alpha_g \cdot [(x \gg 2) + (x \gg 3)] )</a:t>
                </a:r>
                <a:endParaRPr lang="en-US" sz="1800" dirty="0"/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762000" y="7048500"/>
            <a:ext cx="50800" cy="6350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13" name="Shape 11"/>
          <p:cNvSpPr/>
          <p:nvPr/>
        </p:nvSpPr>
        <p:spPr>
          <a:xfrm>
            <a:off x="812800" y="7048500"/>
            <a:ext cx="14681200" cy="635000"/>
          </a:xfrm>
          <a:prstGeom prst="rect">
            <a:avLst/>
          </a:prstGeom>
          <a:solidFill>
            <a:srgbClr val="C4882E">
              <a:alpha val="8235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" y="7048500"/>
            <a:ext cx="14173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arbitrary coefficient multiplication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needed inside the inner loop.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Decoder Instead of Value LUT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value LUT would do: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6858000" cy="1524000"/>
          </a:xfrm>
          <a:prstGeom prst="roundRect">
            <a:avLst>
              <a:gd name="adj" fmla="val 5000"/>
            </a:avLst>
          </a:prstGeom>
          <a:solidFill>
            <a:srgbClr val="ECECEA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016000" y="2222500"/>
                <a:ext cx="63500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101</m:t>
                      </m:r>
                      <m:r>
                        <a:rPr lang="en-US" sz="1800" dirty="0"/>
                        <m:t>→</m:t>
                      </m:r>
                      <m:r>
                        <a:rPr lang="en-US" sz="1800" dirty="0"/>
                        <m:t>0.375</m:t>
                      </m:r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then: </a:t>
                </a:r>
                <a:pPr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0.375</m:t>
                      </m:r>
                      <m:r>
                        <a:rPr lang="en-US" sz="1800" dirty="0"/>
                        <m:t>×</m:t>
                      </m:r>
                      <m:r>
                        <a:rPr lang="en-US" sz="1800" i="1" dirty="0"/>
                        <m:t>x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Text 4"/>
              <p:cNvSpPr/>
              <p:nvPr/>
            </p:nvSpPr>
            <p:spPr>
              <a:xfrm>
                <a:off x="1016000" y="2222500"/>
                <a:ext cx="63500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( 101 \rightarrow 0.375 )</a:t>
                </a:r>
                <a:endParaRPr lang="en-US" sz="1800" dirty="0"/>
              </a:p>
              <a:p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then: </a:t>
                </a:r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( 0.375 \times x )</a:t>
                </a:r>
                <a:endParaRPr lang="en-US" sz="1800" dirty="0"/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8128000" y="16510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488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method does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128000" y="2159000"/>
            <a:ext cx="7366000" cy="1524000"/>
          </a:xfrm>
          <a:prstGeom prst="roundRect">
            <a:avLst>
              <a:gd name="adj" fmla="val 5000"/>
            </a:avLst>
          </a:prstGeom>
          <a:solidFill>
            <a:srgbClr val="C4882E">
              <a:alpha val="8235"/>
            </a:srgbClr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8382000" y="2222500"/>
                <a:ext cx="68580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101</m:t>
                      </m:r>
                      <m:r>
                        <a:rPr lang="en-US" sz="1800" dirty="0"/>
                        <m:t>→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1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> 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3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1</m:t>
                      </m:r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then: </a:t>
                </a:r>
                <a:pPr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2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+</m:t>
                      </m:r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3</m:t>
                      </m:r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Text 7"/>
              <p:cNvSpPr/>
              <p:nvPr/>
            </p:nvSpPr>
            <p:spPr>
              <a:xfrm>
                <a:off x="8382000" y="2222500"/>
                <a:ext cx="68580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( 101 \rightarrow E_2 = 1,\ E_3 = 1 )</a:t>
                </a:r>
                <a:endParaRPr lang="en-US" sz="1800" dirty="0"/>
              </a:p>
              <a:p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then: </a:t>
                </a:r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(x \gg 2) + (x \gg 3) )</a:t>
                </a:r>
                <a:endParaRPr lang="en-US" sz="1800" dirty="0"/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7874000" y="1651000"/>
            <a:ext cx="0" cy="2032000"/>
          </a:xfrm>
          <a:prstGeom prst="straightConnector1">
            <a:avLst/>
          </a:prstGeom>
          <a:noFill/>
          <a:ln w="12700">
            <a:solidFill>
              <a:srgbClr val="D0D0D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62000" y="4064000"/>
            <a:ext cx="14732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445000"/>
            <a:ext cx="1473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So the code produces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shift-enable signals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not a stored floating-point value. The decoder generates control signals for the datapath, bypassing the need for a coefficient lookup and multiply operation.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3-Bit Boolean Decoder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762000" y="1651000"/>
                <a:ext cx="14732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Let magnitude code be: </a:t>
                </a:r>
                <a:pPr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1" i="1" dirty="0"/>
                        <m:t>c</m:t>
                      </m:r>
                      <m:r>
                        <a:rPr lang="en-US" sz="1800" b="1" dirty="0"/>
                        <m:t>=</m:t>
                      </m:r>
                      <m:sSub>
                        <m:sSubPr>
                          <m:ctrlPr>
                            <a:rPr lang="en-US" sz="1300" b="1" dirty="0"/>
                          </m:ctrlPr>
                        </m:sSubPr>
                        <m:e>
                          <m:r>
                            <a:rPr lang="en-US" sz="1300" b="1" i="1" dirty="0"/>
                            <m:t>c</m:t>
                          </m:r>
                        </m:e>
                        <m:sub>
                          <m:r>
                            <a:rPr lang="en-US" sz="1300" b="1" dirty="0"/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1300" b="1" dirty="0"/>
                          </m:ctrlPr>
                        </m:sSubPr>
                        <m:e>
                          <m:r>
                            <a:rPr lang="en-US" sz="1300" b="1" i="1" dirty="0"/>
                            <m:t>c</m:t>
                          </m:r>
                        </m:e>
                        <m:sub>
                          <m:r>
                            <a:rPr lang="en-US" sz="1300" b="1" dirty="0"/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1300" b="1" dirty="0"/>
                          </m:ctrlPr>
                        </m:sSubPr>
                        <m:e>
                          <m:r>
                            <a:rPr lang="en-US" sz="1300" b="1" i="1" dirty="0"/>
                            <m:t>c</m:t>
                          </m:r>
                        </m:e>
                        <m:sub>
                          <m:r>
                            <a:rPr lang="en-US" sz="1300" b="1" dirty="0"/>
                            <m:t>0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Text 2"/>
              <p:cNvSpPr/>
              <p:nvPr/>
            </p:nvSpPr>
            <p:spPr>
              <a:xfrm>
                <a:off x="762000" y="1651000"/>
                <a:ext cx="14732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Let magnitude code be: </a:t>
                </a:r>
                <a:pPr>
                  <a:lnSpc>
                    <a:spcPct val="160000"/>
                  </a:lnSpc>
                </a:pPr>
                <a:r>
                  <a:rPr lang="en-US" sz="18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c = c_2 c_1 c_0 )</a:t>
                </a:r>
                <a:endParaRPr lang="en-US" sz="1800" dirty="0"/>
              </a:p>
            </p:txBody>
          </p:sp>
        </mc:Fallback>
      </mc:AlternateContent>
      <p:sp>
        <p:nvSpPr>
          <p:cNvPr id="5" name="Text 3"/>
          <p:cNvSpPr/>
          <p:nvPr/>
        </p:nvSpPr>
        <p:spPr>
          <a:xfrm>
            <a:off x="762000" y="2286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shift-enable wires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762000" y="2794000"/>
                <a:ext cx="6858000" cy="2057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1</m:t>
                          </m:r>
                        </m:sub>
                      </m:sSub>
                    </m:oMath>
                  </m:oMathPara>
                </a14:m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: </a:t>
                </a:r>
                <a:pPr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1</m:t>
                      </m:r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</m:oMath>
                  </m:oMathPara>
                </a14:m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: </a:t>
                </a:r>
                <a:pPr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2</m:t>
                      </m:r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3</m:t>
                          </m:r>
                        </m:sub>
                      </m:sSub>
                    </m:oMath>
                  </m:oMathPara>
                </a14:m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: </a:t>
                </a:r>
                <a:pPr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3</m:t>
                      </m:r>
                    </m:oMath>
                  </m:oMathPara>
                </a14:m>
                <a:endParaRPr lang="en-US" sz="1800" dirty="0"/>
              </a:p>
              <a:p>
                <a:pPr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4</m:t>
                          </m:r>
                        </m:sub>
                      </m:sSub>
                    </m:oMath>
                  </m:oMathPara>
                </a14:m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: </a:t>
                </a:r>
                <a:pPr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4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Text 4"/>
              <p:cNvSpPr/>
              <p:nvPr/>
            </p:nvSpPr>
            <p:spPr>
              <a:xfrm>
                <a:off x="762000" y="2794000"/>
                <a:ext cx="6858000" cy="20574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E_1 )</a:t>
                </a:r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: </a:t>
                </a:r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x \gg 1 )</a:t>
                </a:r>
                <a:endParaRPr lang="en-US" sz="1800" dirty="0"/>
              </a:p>
              <a:p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E_2 )</a:t>
                </a:r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: </a:t>
                </a:r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x \gg 2 )</a:t>
                </a:r>
                <a:endParaRPr lang="en-US" sz="1800" dirty="0"/>
              </a:p>
              <a:p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E_3 )</a:t>
                </a:r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: </a:t>
                </a:r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x \gg 3 )</a:t>
                </a:r>
                <a:endParaRPr lang="en-US" sz="1800" dirty="0"/>
              </a:p>
              <a:p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E_4 )</a:t>
                </a:r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: </a:t>
                </a:r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x \gg 4 )</a:t>
                </a:r>
                <a:endParaRPr lang="en-US" sz="1800" dirty="0"/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762000" y="5080000"/>
            <a:ext cx="14732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5334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Boolean equations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762000" y="5842000"/>
                <a:ext cx="14732000" cy="215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1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∧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∧</m:t>
                      </m:r>
                      <m:r>
                        <a:rPr lang="en-US" sz="1800" dirty="0"/>
                        <m:t>¬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1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3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(</m:t>
                      </m:r>
                      <m:r>
                        <a:rPr lang="en-US" sz="1800" dirty="0"/>
                        <m:t>¬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∧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1</m:t>
                          </m:r>
                        </m:sub>
                      </m:sSub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∨</m:t>
                      </m:r>
                      <m:r>
                        <a:rPr lang="en-US" sz="1800" dirty="0"/>
                        <m:t>(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∧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0</m:t>
                          </m:r>
                        </m:sub>
                      </m:sSub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4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¬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∧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0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Text 7"/>
              <p:cNvSpPr/>
              <p:nvPr/>
            </p:nvSpPr>
            <p:spPr>
              <a:xfrm>
                <a:off x="762000" y="5842000"/>
                <a:ext cx="14732000" cy="215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E_1 = c_2 \land c_1 )</a:t>
                </a:r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E_2 = c_2 \land \neg c_1 )</a:t>
                </a:r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E_3 = (\neg c_2 \land c_1) \lor (c_2 \land c_0) )</a:t>
                </a:r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E_4 = \neg c_2 \land c_0 )</a:t>
                </a:r>
                <a:endParaRPr lang="en-US" sz="1800" dirty="0"/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Decoder Truth Table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4000" y="1778000"/>
          <a:ext cx="13208000" cy="5588000"/>
        </p:xfrm>
        <a:graphic>
          <a:graphicData uri="http://schemas.openxmlformats.org/drawingml/2006/table">
            <a:tbl>
              <a:tblPr/>
              <a:tblGrid>
                <a:gridCol w="1849120"/>
                <a:gridCol w="1584960"/>
                <a:gridCol w="1584960"/>
                <a:gridCol w="1584960"/>
                <a:gridCol w="1584960"/>
                <a:gridCol w="5019040"/>
              </a:tblGrid>
              <a:tr h="553766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Code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E₁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E₂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E₃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E₄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62927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27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\(2^{-4}\)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</a:tr>
              <a:tr h="62927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010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\(2^{-3}\)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27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011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\(2^{-3} + 2^{-4}\)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</a:tr>
              <a:tr h="62927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\(2^{-2}\)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27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\(2^{-2} + 2^{-3}\)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</a:tr>
              <a:tr h="62927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\(2^{-1}\)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9279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111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\(2^{-1} + 2^{-3}\)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Hardware Datapath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762000" y="16510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[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,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1</m:t>
                          </m:r>
                        </m:sub>
                      </m:sSub>
                      <m:r>
                        <a:rPr lang="en-US" sz="1800" dirty="0"/>
                        <m:t>,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0</m:t>
                          </m:r>
                        </m:sub>
                      </m:sSub>
                      <m:r>
                        <a:rPr lang="en-US" sz="1800" dirty="0"/>
                        <m:t>]</m:t>
                      </m:r>
                      <m:r>
                        <a:rPr lang="en-US" sz="1800" dirty="0"/>
                        <m:t>→</m:t>
                      </m:r>
                      <m:r>
                        <a:rPr lang="en-US" sz="1800" dirty="0"/>
                        <m:t>[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1</m:t>
                          </m:r>
                        </m:sub>
                      </m:sSub>
                      <m:r>
                        <a:rPr lang="en-US" sz="1800" dirty="0"/>
                        <m:t>,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,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3</m:t>
                          </m:r>
                        </m:sub>
                      </m:sSub>
                      <m:r>
                        <a:rPr lang="en-US" sz="1800" dirty="0"/>
                        <m:t>,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4</m:t>
                          </m:r>
                        </m:sub>
                      </m:sSub>
                      <m:r>
                        <a:rPr lang="en-US" sz="1800" dirty="0"/>
                        <m:t>]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Text 2"/>
              <p:cNvSpPr/>
              <p:nvPr/>
            </p:nvSpPr>
            <p:spPr>
              <a:xfrm>
                <a:off x="762000" y="16510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[c_2, c_1, c_0] \rightarrow [E_1, E_2, E_3, E_4] )</a:t>
                </a:r>
                <a:endParaRPr lang="en-US" sz="1800" dirty="0"/>
              </a:p>
            </p:txBody>
          </p:sp>
        </mc:Fallback>
      </mc:AlternateContent>
      <p:sp>
        <p:nvSpPr>
          <p:cNvPr id="5" name="Text 3"/>
          <p:cNvSpPr/>
          <p:nvPr/>
        </p:nvSpPr>
        <p:spPr>
          <a:xfrm>
            <a:off x="762000" y="2476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Compute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shifted partial sums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762000" y="2921000"/>
                <a:ext cx="14732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z</m:t>
                      </m:r>
                      <m:r>
                        <a:rPr lang="en-US" sz="1800" dirty="0"/>
                        <m:t>=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1</m:t>
                          </m:r>
                        </m:sub>
                      </m:sSub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1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+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2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+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3</m:t>
                          </m:r>
                        </m:sub>
                      </m:sSub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3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+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4</m:t>
                          </m:r>
                        </m:sub>
                      </m:sSub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4</m:t>
                      </m:r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Text 4"/>
              <p:cNvSpPr/>
              <p:nvPr/>
            </p:nvSpPr>
            <p:spPr>
              <a:xfrm>
                <a:off x="762000" y="2921000"/>
                <a:ext cx="14732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t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z = E_1(x \gg 1) + E_2(x \gg 2) + E_3(x \gg 3) + E_4(x \gg 4) )</a:t>
                </a:r>
                <a:endParaRPr lang="en-US" sz="1800" dirty="0"/>
              </a:p>
            </p:txBody>
          </p:sp>
        </mc:Fallback>
      </mc:AlternateContent>
      <p:sp>
        <p:nvSpPr>
          <p:cNvPr id="7" name="Shape 5"/>
          <p:cNvSpPr/>
          <p:nvPr/>
        </p:nvSpPr>
        <p:spPr>
          <a:xfrm>
            <a:off x="762000" y="4381500"/>
            <a:ext cx="14732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8" name="Text 6"/>
          <p:cNvSpPr/>
          <p:nvPr/>
        </p:nvSpPr>
        <p:spPr>
          <a:xfrm>
            <a:off x="762000" y="4635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Apply sign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3302000" y="4635500"/>
                <a:ext cx="12192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z</m:t>
                          </m:r>
                        </m:e>
                        <m:sub>
                          <m:r>
                            <a:rPr lang="en-US" sz="1300" i="1" dirty="0"/>
                            <m:t>s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{</m:t>
                      </m:r>
                      <m:m>
                        <m:mPr>
                          <m:ctrlPr>
                            <a:rPr lang="en-US" sz="1800" dirty="0"/>
                          </m:ctrlPr>
                        </m:mPr>
                        <m:mr>
                          <m:e>
                            <m:e>
                              <m:r>
                                <a:rPr lang="en-US" sz="1800" i="1" dirty="0"/>
                                <m:t>z</m:t>
                              </m:r>
                              <m:r>
                                <a:rPr lang="en-US" sz="1800" dirty="0"/>
                                <m:t>,</m:t>
                              </m:r>
                            </m:e>
                          </m:e>
                          <m:e>
                            <m:e>
                              <m:r>
                                <a:rPr lang="en-US" sz="1800" i="1" dirty="0"/>
                                <m:t>s</m:t>
                              </m:r>
                              <m:r>
                                <a:rPr lang="en-US" sz="1800" dirty="0"/>
                                <m:t>=</m:t>
                              </m:r>
                              <m:r>
                                <a:rPr lang="en-US" sz="1800" dirty="0"/>
                                <m:t>+</m:t>
                              </m:r>
                              <m:r>
                                <a:rPr lang="en-US" sz="1800" dirty="0"/>
                                <m:t>1</m:t>
                              </m:r>
                            </m:e>
                          </m:e>
                        </m:mr>
                        <m:mr>
                          <m:e>
                            <m:e>
                              <m:r>
                                <a:rPr lang="en-US" sz="1800" dirty="0"/>
                                <m:t>−</m:t>
                              </m:r>
                              <m:r>
                                <a:rPr lang="en-US" sz="1800" i="1" dirty="0"/>
                                <m:t>z</m:t>
                              </m:r>
                              <m:r>
                                <a:rPr lang="en-US" sz="1800" dirty="0"/>
                                <m:t>,</m:t>
                              </m:r>
                            </m:e>
                          </m:e>
                          <m:e>
                            <m:e>
                              <m:r>
                                <a:rPr lang="en-US" sz="1800" i="1" dirty="0"/>
                                <m:t>s</m:t>
                              </m:r>
                              <m:r>
                                <a:rPr lang="en-US" sz="1800" dirty="0"/>
                                <m:t>=</m:t>
                              </m:r>
                              <m:r>
                                <a:rPr lang="en-US" sz="1800" dirty="0"/>
                                <m:t>−</m:t>
                              </m:r>
                              <m:r>
                                <a:rPr lang="en-US" sz="1800" dirty="0"/>
                                <m:t>1</m:t>
                              </m:r>
                            </m:e>
                          </m:e>
                        </m:mr>
                      </m:m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Text 7"/>
              <p:cNvSpPr/>
              <p:nvPr/>
            </p:nvSpPr>
            <p:spPr>
              <a:xfrm>
                <a:off x="3302000" y="4635500"/>
                <a:ext cx="12192000" cy="1016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z_s = \begin{cases} z, &amp; s = +1 \\ -z, &amp; s = -1 \end{cases} )</a:t>
                </a:r>
                <a:endParaRPr lang="en-US" sz="1800" dirty="0"/>
              </a:p>
            </p:txBody>
          </p:sp>
        </mc:Fallback>
      </mc:AlternateContent>
      <p:sp>
        <p:nvSpPr>
          <p:cNvPr id="10" name="Text 8"/>
          <p:cNvSpPr/>
          <p:nvPr/>
        </p:nvSpPr>
        <p:spPr>
          <a:xfrm>
            <a:off x="762000" y="60325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Apply group scale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4572000" y="6032500"/>
                <a:ext cx="1092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y</m:t>
                      </m:r>
                      <m:r>
                        <a:rPr lang="en-US" sz="1800" dirty="0"/>
                        <m:t>=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α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r>
                        <a:rPr lang="en-US" sz="1800" dirty="0"/>
                        <m:t>⋅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z</m:t>
                          </m:r>
                        </m:e>
                        <m:sub>
                          <m:r>
                            <a:rPr lang="en-US" sz="1300" i="1" dirty="0"/>
                            <m:t>s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1" name="Text 9"/>
              <p:cNvSpPr/>
              <p:nvPr/>
            </p:nvSpPr>
            <p:spPr>
              <a:xfrm>
                <a:off x="4572000" y="6032500"/>
                <a:ext cx="1092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y = \alpha_g \cdot z_s )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762000" y="6985000"/>
                <a:ext cx="14732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The entire datapath consists of </a:t>
                </a:r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decoder logic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→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shift-add tree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→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sign mux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→</m:t>
                      </m:r>
                    </m:oMath>
                  </m:oMathPara>
                </a14:m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final scale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.</a:t>
                </a:r>
                <a:endParaRPr lang="en-US" sz="1800" dirty="0"/>
              </a:p>
            </p:txBody>
          </p:sp>
        </mc:Choice>
        <mc:Fallback xmlns="">
          <p:sp>
            <p:nvSpPr>
              <p:cNvPr id="12" name="Text 10"/>
              <p:cNvSpPr/>
              <p:nvPr/>
            </p:nvSpPr>
            <p:spPr>
              <a:xfrm>
                <a:off x="762000" y="6985000"/>
                <a:ext cx="14732000" cy="762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The entire datapath consists of </a:t>
                </a:r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decoder logic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\rightarrow )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shift-add tree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\rightarrow )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sign mux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\rightarrow )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 </a:t>
                </a:r>
                <a:pPr>
                  <a:lnSpc>
                    <a:spcPct val="150000"/>
                  </a:lnSpc>
                </a:pPr>
                <a:r>
                  <a:rPr lang="en-US" sz="16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final scale</a:t>
                </a:r>
                <a:pPr>
                  <a:lnSpc>
                    <a:spcPct val="150000"/>
                  </a:lnSpc>
                </a:pPr>
                <a:r>
                  <a:rPr lang="en-US" sz="16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.</a:t>
                </a:r>
                <a:endParaRPr lang="en-US" sz="1800" dirty="0"/>
              </a:p>
            </p:txBody>
          </p:sp>
        </mc:Fallback>
      </mc:AlternateContent>
      <p:sp>
        <p:nvSpPr>
          <p:cNvPr id="13" name="Text 11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Walkthrough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2"/>
              <p:cNvSpPr/>
              <p:nvPr/>
            </p:nvSpPr>
            <p:spPr>
              <a:xfrm>
                <a:off x="762000" y="1587500"/>
                <a:ext cx="14732000" cy="444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Code: </a:t>
                </a:r>
                <a:pPr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200" b="1" dirty="0">
                          <a:solidFill>
                            <a:srgbClr val="C4882E"/>
                          </a:solidFill>
                        </a:rPr>
                        <m:t>101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4" name="Text 2"/>
              <p:cNvSpPr/>
              <p:nvPr/>
            </p:nvSpPr>
            <p:spPr>
              <a:xfrm>
                <a:off x="762000" y="1587500"/>
                <a:ext cx="14732000" cy="444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Code: </a:t>
                </a:r>
                <a:pPr>
                  <a:lnSpc>
                    <a:spcPct val="160000"/>
                  </a:lnSpc>
                </a:pPr>
                <a:r>
                  <a:rPr lang="en-US" sz="2200" b="1" dirty="0">
                    <a:solidFill>
                      <a:srgbClr val="C4882E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( 101 )</a:t>
                </a:r>
                <a:endParaRPr lang="en-US" sz="1800" dirty="0"/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762000" y="2222500"/>
                <a:ext cx="14732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So: </a:t>
                </a:r>
                <a:pPr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1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 xml:space="preserve"> 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1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0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 xml:space="preserve"> 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c</m:t>
                          </m:r>
                        </m:e>
                        <m:sub>
                          <m:r>
                            <a:rPr lang="en-US" sz="1300" dirty="0"/>
                            <m:t>0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1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 3"/>
              <p:cNvSpPr/>
              <p:nvPr/>
            </p:nvSpPr>
            <p:spPr>
              <a:xfrm>
                <a:off x="762000" y="2222500"/>
                <a:ext cx="14732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So: </a:t>
                </a:r>
                <a:pPr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c_2 = 1,\quad c_1 = 0,\quad c_0 = 1 )</a:t>
                </a:r>
                <a:endParaRPr lang="en-US" sz="1800" dirty="0"/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762000" y="28575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Decoder output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762000" y="3302000"/>
                <a:ext cx="14732000" cy="444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2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1</m:t>
                      </m:r>
                      <m:r>
                        <a:rPr lang="en-US" sz="1800" dirty="0"/>
                        <m:t>,</m:t>
                      </m:r>
                      <m:r>
                        <a:rPr lang="en-US" sz="1800" dirty="0"/>
                        <m:t xml:space="preserve"> 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E</m:t>
                          </m:r>
                        </m:e>
                        <m:sub>
                          <m:r>
                            <a:rPr lang="en-US" sz="1300" dirty="0"/>
                            <m:t>3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1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Text 5"/>
              <p:cNvSpPr/>
              <p:nvPr/>
            </p:nvSpPr>
            <p:spPr>
              <a:xfrm>
                <a:off x="762000" y="3302000"/>
                <a:ext cx="14732000" cy="444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E_2 = 1,\quad E_3 = 1 )</a:t>
                </a:r>
                <a:endParaRPr lang="en-US" sz="1800" dirty="0"/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762000" y="4064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Therefore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4572000" y="4064000"/>
                <a:ext cx="10922000" cy="444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2</m:t>
                          </m:r>
                        </m:e>
                        <m:sup>
                          <m:r>
                            <a:rPr lang="en-US" sz="1300" dirty="0"/>
                            <m:t>−</m:t>
                          </m:r>
                          <m:r>
                            <a:rPr lang="en-US" sz="1300" dirty="0"/>
                            <m:t>2</m:t>
                          </m:r>
                        </m:sup>
                      </m:sSup>
                      <m:r>
                        <a:rPr lang="en-US" sz="1800" dirty="0"/>
                        <m:t>+</m:t>
                      </m:r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2</m:t>
                          </m:r>
                        </m:e>
                        <m:sup>
                          <m:r>
                            <a:rPr lang="en-US" sz="1300" dirty="0"/>
                            <m:t>−</m:t>
                          </m:r>
                          <m:r>
                            <a:rPr lang="en-US" sz="1300" dirty="0"/>
                            <m:t>3</m:t>
                          </m:r>
                        </m:sup>
                      </m:sSup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Text 7"/>
              <p:cNvSpPr/>
              <p:nvPr/>
            </p:nvSpPr>
            <p:spPr>
              <a:xfrm>
                <a:off x="4572000" y="4064000"/>
                <a:ext cx="10922000" cy="444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m_q = 2^{-2} + 2^{-3} )</a:t>
                </a:r>
                <a:endParaRPr lang="en-US" sz="1800" dirty="0"/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762000" y="4889500"/>
            <a:ext cx="14732000" cy="12700"/>
          </a:xfrm>
          <a:prstGeom prst="rect">
            <a:avLst/>
          </a:prstGeom>
          <a:solidFill>
            <a:srgbClr val="D0D0D0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 9"/>
              <p:cNvSpPr/>
              <p:nvPr/>
            </p:nvSpPr>
            <p:spPr>
              <a:xfrm>
                <a:off x="762000" y="5143500"/>
                <a:ext cx="3810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For activation </a:t>
                </a:r>
                <a:pPr>
                  <a:lnSpc>
                    <a:spcPct val="16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b="1" i="1" dirty="0"/>
                        <m:t>x</m:t>
                      </m:r>
                      <m:r>
                        <a:rPr lang="en-US" sz="1800" b="1" dirty="0"/>
                        <m:t>=</m:t>
                      </m:r>
                      <m:r>
                        <a:rPr lang="en-US" sz="1800" b="1" dirty="0"/>
                        <m:t>16</m:t>
                      </m:r>
                    </m:oMath>
                  </m:oMathPara>
                </a14:m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:</a:t>
                </a:r>
                <a:endParaRPr lang="en-US" sz="1800" dirty="0"/>
              </a:p>
            </p:txBody>
          </p:sp>
        </mc:Choice>
        <mc:Fallback xmlns="">
          <p:sp>
            <p:nvSpPr>
              <p:cNvPr id="11" name="Text 9"/>
              <p:cNvSpPr/>
              <p:nvPr/>
            </p:nvSpPr>
            <p:spPr>
              <a:xfrm>
                <a:off x="762000" y="5143500"/>
                <a:ext cx="3810000" cy="381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For activation </a:t>
                </a:r>
                <a:pPr>
                  <a:lnSpc>
                    <a:spcPct val="160000"/>
                  </a:lnSpc>
                </a:pPr>
                <a:r>
                  <a:rPr lang="en-US" sz="1800" b="1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x = 16 )</a:t>
                </a:r>
                <a:pPr>
                  <a:lnSpc>
                    <a:spcPct val="16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:</a:t>
                </a:r>
                <a:endParaRPr lang="en-US" sz="1800" dirty="0"/>
              </a:p>
            </p:txBody>
          </p:sp>
        </mc:Fallback>
      </mc:AlternateContent>
      <p:sp>
        <p:nvSpPr>
          <p:cNvPr id="12" name="Shape 10"/>
          <p:cNvSpPr/>
          <p:nvPr/>
        </p:nvSpPr>
        <p:spPr>
          <a:xfrm>
            <a:off x="762000" y="5715000"/>
            <a:ext cx="7620000" cy="1270000"/>
          </a:xfrm>
          <a:prstGeom prst="roundRect">
            <a:avLst>
              <a:gd name="adj" fmla="val 5000"/>
            </a:avLst>
          </a:prstGeom>
          <a:solidFill>
            <a:srgbClr val="ECECEA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 11"/>
              <p:cNvSpPr/>
              <p:nvPr/>
            </p:nvSpPr>
            <p:spPr>
              <a:xfrm>
                <a:off x="1016000" y="5778500"/>
                <a:ext cx="7112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z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(</m:t>
                      </m:r>
                      <m:r>
                        <a:rPr lang="en-US" sz="1800" dirty="0"/>
                        <m:t>16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2</m:t>
                      </m:r>
                      <m:r>
                        <a:rPr lang="en-US" sz="1800" dirty="0"/>
                        <m:t>)</m:t>
                      </m:r>
                      <m:r>
                        <a:rPr lang="en-US" sz="1800" dirty="0"/>
                        <m:t>+</m:t>
                      </m:r>
                      <m:r>
                        <a:rPr lang="en-US" sz="1800" dirty="0"/>
                        <m:t>(</m:t>
                      </m:r>
                      <m:r>
                        <a:rPr lang="en-US" sz="1800" dirty="0"/>
                        <m:t>16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dirty="0"/>
                        <m:t>3</m:t>
                      </m:r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z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4</m:t>
                      </m:r>
                      <m:r>
                        <a:rPr lang="en-US" sz="1800" dirty="0"/>
                        <m:t>+</m:t>
                      </m:r>
                      <m:r>
                        <a:rPr lang="en-US" sz="1800" dirty="0"/>
                        <m:t>2</m:t>
                      </m:r>
                      <m:r>
                        <a:rPr lang="en-US" sz="1800" dirty="0"/>
                        <m:t>=</m:t>
                      </m:r>
                      <m:r>
                        <a:rPr lang="en-US" sz="1800" dirty="0"/>
                        <m:t>6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3" name="Text 11"/>
              <p:cNvSpPr/>
              <p:nvPr/>
            </p:nvSpPr>
            <p:spPr>
              <a:xfrm>
                <a:off x="1016000" y="5778500"/>
                <a:ext cx="7112000" cy="1143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z = (16 \gg 2) + (16 \gg 3) )</a:t>
                </a:r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z = 4 + 2 = 6 )</a:t>
                </a:r>
                <a:endParaRPr lang="en-US" sz="1800" dirty="0"/>
              </a:p>
            </p:txBody>
          </p:sp>
        </mc:Fallback>
      </mc:AlternateContent>
      <p:sp>
        <p:nvSpPr>
          <p:cNvPr id="14" name="Text 12"/>
          <p:cNvSpPr/>
          <p:nvPr/>
        </p:nvSpPr>
        <p:spPr>
          <a:xfrm>
            <a:off x="762000" y="7429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 13"/>
              <p:cNvSpPr/>
              <p:nvPr/>
            </p:nvSpPr>
            <p:spPr>
              <a:xfrm>
                <a:off x="3302000" y="7429500"/>
                <a:ext cx="1219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i="1" dirty="0"/>
                        <m:t>y</m:t>
                      </m:r>
                      <m:r>
                        <a:rPr lang="en-US" sz="1800" dirty="0"/>
                        <m:t>=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α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r>
                        <a:rPr lang="en-US" sz="1800" dirty="0"/>
                        <m:t>⋅</m:t>
                      </m:r>
                      <m:r>
                        <a:rPr lang="en-US" sz="1800" i="1" dirty="0"/>
                        <m:t>s</m:t>
                      </m:r>
                      <m:r>
                        <a:rPr lang="en-US" sz="1800" dirty="0"/>
                        <m:t>⋅</m:t>
                      </m:r>
                      <m:r>
                        <a:rPr lang="en-US" sz="1800" dirty="0"/>
                        <m:t>6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5" name="Text 13"/>
              <p:cNvSpPr/>
              <p:nvPr/>
            </p:nvSpPr>
            <p:spPr>
              <a:xfrm>
                <a:off x="3302000" y="7429500"/>
                <a:ext cx="1219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y = \alpha_g \cdot s \cdot 6 )</a:t>
                </a:r>
                <a:endParaRPr lang="en-US" sz="1800" dirty="0"/>
              </a:p>
            </p:txBody>
          </p:sp>
        </mc:Fallback>
      </mc:AlternateContent>
      <p:sp>
        <p:nvSpPr>
          <p:cNvPr id="16" name="Text 14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Boolean Decoder Can Be Better Than LUT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value LUT requires: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62000" y="2159000"/>
            <a:ext cx="6858000" cy="1524000"/>
          </a:xfrm>
          <a:prstGeom prst="roundRect">
            <a:avLst>
              <a:gd name="adj" fmla="val 5000"/>
            </a:avLst>
          </a:prstGeom>
          <a:solidFill>
            <a:srgbClr val="ECECEA"/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4"/>
              <p:cNvSpPr/>
              <p:nvPr/>
            </p:nvSpPr>
            <p:spPr>
              <a:xfrm>
                <a:off x="1016000" y="2222500"/>
                <a:ext cx="63500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code</m:t>
                      </m:r>
                      <m:r>
                        <a:rPr lang="en-US" sz="1800" dirty="0"/>
                        <m:t>→</m:t>
                      </m:r>
                      <m:r>
                        <a:rPr lang="en-US" sz="1800" dirty="0"/>
                        <m:t>memory/table read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→</m:t>
                      </m:r>
                      <m:r>
                        <a:rPr lang="en-US" sz="1800" dirty="0"/>
                        <m:t>coefficient</m:t>
                      </m:r>
                      <m:r>
                        <a:rPr lang="en-US" sz="1800" dirty="0"/>
                        <m:t>→</m:t>
                      </m:r>
                      <m:r>
                        <a:rPr lang="en-US" sz="1800" dirty="0"/>
                        <m:t>multiply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6" name="Text 4"/>
              <p:cNvSpPr/>
              <p:nvPr/>
            </p:nvSpPr>
            <p:spPr>
              <a:xfrm>
                <a:off x="1016000" y="2222500"/>
                <a:ext cx="63500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\text{code} \rightarrow \text{memory/table read} )</a:t>
                </a:r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\rightarrow \text{coefficient} \rightarrow \text{multiply} )</a:t>
                </a:r>
                <a:endParaRPr lang="en-US" sz="1800" dirty="0"/>
              </a:p>
            </p:txBody>
          </p:sp>
        </mc:Fallback>
      </mc:AlternateContent>
      <p:sp>
        <p:nvSpPr>
          <p:cNvPr id="7" name="Text 5"/>
          <p:cNvSpPr/>
          <p:nvPr/>
        </p:nvSpPr>
        <p:spPr>
          <a:xfrm>
            <a:off x="8128000" y="16510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C488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Boolean decoder requires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128000" y="2159000"/>
            <a:ext cx="7366000" cy="1524000"/>
          </a:xfrm>
          <a:prstGeom prst="roundRect">
            <a:avLst>
              <a:gd name="adj" fmla="val 5000"/>
            </a:avLst>
          </a:prstGeom>
          <a:solidFill>
            <a:srgbClr val="C4882E">
              <a:alpha val="8235"/>
            </a:srgbClr>
          </a:solidFill>
          <a:ln/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8382000" y="2222500"/>
                <a:ext cx="68580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code</m:t>
                      </m:r>
                      <m:r>
                        <a:rPr lang="en-US" sz="1800" dirty="0"/>
                        <m:t>→</m:t>
                      </m:r>
                      <m:r>
                        <a:rPr lang="en-US" sz="1800" dirty="0"/>
                        <m:t>AND/OR/NOT gates</m:t>
                      </m:r>
                    </m:oMath>
                  </m:oMathPara>
                </a14:m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→</m:t>
                      </m:r>
                      <m:r>
                        <a:rPr lang="en-US" sz="1800" dirty="0"/>
                        <m:t>shift enables</m:t>
                      </m:r>
                      <m:r>
                        <a:rPr lang="en-US" sz="1800" dirty="0"/>
                        <m:t>→</m:t>
                      </m:r>
                      <m:r>
                        <a:rPr lang="en-US" sz="1800" dirty="0"/>
                        <m:t>shift-add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Text 7"/>
              <p:cNvSpPr/>
              <p:nvPr/>
            </p:nvSpPr>
            <p:spPr>
              <a:xfrm>
                <a:off x="8382000" y="2222500"/>
                <a:ext cx="6858000" cy="1397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\text{code} \rightarrow \text{AND/OR/NOT gates} )</a:t>
                </a:r>
                <a:endParaRPr lang="en-US" sz="1800" dirty="0"/>
              </a:p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\rightarrow \text{shift enables} \rightarrow \text{shift-add} )</a:t>
                </a:r>
                <a:endParaRPr lang="en-US" sz="1800" dirty="0"/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7874000" y="1651000"/>
            <a:ext cx="0" cy="2032000"/>
          </a:xfrm>
          <a:prstGeom prst="straightConnector1">
            <a:avLst/>
          </a:prstGeom>
          <a:noFill/>
          <a:ln w="12700">
            <a:solidFill>
              <a:srgbClr val="D0D0D0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62000" y="4064000"/>
            <a:ext cx="14732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2" name="Text 10"/>
          <p:cNvSpPr/>
          <p:nvPr/>
        </p:nvSpPr>
        <p:spPr>
          <a:xfrm>
            <a:off x="762000" y="4445000"/>
            <a:ext cx="14732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FPGA LUTs are commonly described as small truth-table memories for implementing logic functions; in ASIC/custom hardware, the same Boolean equations can be synthesized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directly into gates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instead of read as stored values.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decoder eliminates the memory read latency and replaces multiplication with simple shifts and additions.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LUT vs Boolean Decoder</a:t>
            </a:r>
            <a:endParaRPr lang="en-US" sz="2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14732000" cy="2794000"/>
        </p:xfrm>
        <a:graphic>
          <a:graphicData uri="http://schemas.openxmlformats.org/drawingml/2006/table">
            <a:tbl>
              <a:tblPr/>
              <a:tblGrid>
                <a:gridCol w="3683000"/>
                <a:gridCol w="5524500"/>
                <a:gridCol w="5524500"/>
              </a:tblGrid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Design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Decode mechanism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Inner operation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A5C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Value LUT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Fetch stored coefficient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Multiply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Shift-pattern LUT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Fetch enable vector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1E1E24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Shift-add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EE"/>
                    </a:solidFill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88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Boolean decoder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88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Gates generate enable vector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u="none" dirty="0">
                          <a:solidFill>
                            <a:srgbClr val="C4882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Shift-add</a:t>
                      </a:r>
                      <a:endParaRPr lang="en-US" sz="16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080000"/>
            <a:ext cx="14732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6" name="Text 3"/>
          <p:cNvSpPr/>
          <p:nvPr/>
        </p:nvSpPr>
        <p:spPr>
          <a:xfrm>
            <a:off x="762000" y="5461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custom-hardware path: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318000" y="6223000"/>
            <a:ext cx="7620000" cy="889000"/>
          </a:xfrm>
          <a:prstGeom prst="roundRect">
            <a:avLst>
              <a:gd name="adj" fmla="val 5000"/>
            </a:avLst>
          </a:prstGeom>
          <a:solidFill>
            <a:srgbClr val="C4882E">
              <a:alpha val="8235"/>
            </a:srgbClr>
          </a:solidFill>
          <a:ln w="25400">
            <a:solidFill>
              <a:srgbClr val="C488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0" y="6223000"/>
            <a:ext cx="7112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Boolean decoder + shift-add datapath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Delayed Scaling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Instead of applying scale for every individual weight: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762000" y="22225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w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α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r>
                        <a:rPr lang="en-US" sz="1800" dirty="0"/>
                        <m:t>⋅</m:t>
                      </m:r>
                      <m:r>
                        <a:rPr lang="en-US" sz="1800" i="1" dirty="0"/>
                        <m:t>s</m:t>
                      </m:r>
                      <m:r>
                        <a:rPr lang="en-US" sz="1800" dirty="0"/>
                        <m:t>⋅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 3"/>
              <p:cNvSpPr/>
              <p:nvPr/>
            </p:nvSpPr>
            <p:spPr>
              <a:xfrm>
                <a:off x="762000" y="22225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w_q = \alpha_g \cdot s \cdot m_q )</a:t>
                </a:r>
                <a:endParaRPr lang="en-US" sz="1800" dirty="0"/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762000" y="3111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First compute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shift-add accumulation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762000" y="3619500"/>
                <a:ext cx="14732000" cy="762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A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dirty="0"/>
                            <m:t>∑</m:t>
                          </m:r>
                        </m:e>
                        <m:sub>
                          <m:r>
                            <a:rPr lang="en-US" sz="1300" i="1" dirty="0"/>
                            <m:t>e</m:t>
                          </m:r>
                        </m:sub>
                      </m:sSub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2</m:t>
                          </m:r>
                        </m:e>
                        <m:sup>
                          <m:r>
                            <a:rPr lang="en-US" sz="1300" dirty="0"/>
                            <m:t>−</m:t>
                          </m:r>
                          <m:r>
                            <a:rPr lang="en-US" sz="1300" i="1" dirty="0"/>
                            <m:t>e</m:t>
                          </m:r>
                        </m:sup>
                      </m:sSup>
                      <m:r>
                        <a:rPr lang="en-US" sz="1800" dirty="0"/>
                        <m:t>[</m:t>
                      </m:r>
                      <m:r>
                        <a:rPr lang="en-US" sz="1800" i="1" dirty="0"/>
                        <m:t>X</m:t>
                      </m:r>
                      <m:sSubSup>
                        <m:sSubSupPr>
                          <m:ctrlPr>
                            <a:rPr lang="en-US" sz="1300" dirty="0"/>
                          </m:ctrlPr>
                        </m:sSubSup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  <m:r>
                            <a:rPr lang="en-US" sz="1300" dirty="0"/>
                            <m:t>,</m:t>
                          </m:r>
                          <m:r>
                            <a:rPr lang="en-US" sz="1300" i="1" dirty="0"/>
                            <m:t>e</m:t>
                          </m:r>
                        </m:sub>
                        <m:sup>
                          <m:r>
                            <a:rPr lang="en-US" sz="1300" dirty="0"/>
                            <m:t>+</m:t>
                          </m:r>
                        </m:sup>
                      </m:sSubSup>
                      <m:r>
                        <a:rPr lang="en-US" sz="1800" dirty="0"/>
                        <m:t>−</m:t>
                      </m:r>
                      <m:r>
                        <a:rPr lang="en-US" sz="1800" i="1" dirty="0"/>
                        <m:t>X</m:t>
                      </m:r>
                      <m:sSubSup>
                        <m:sSubSupPr>
                          <m:ctrlPr>
                            <a:rPr lang="en-US" sz="1300" dirty="0"/>
                          </m:ctrlPr>
                        </m:sSubSup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  <m:r>
                            <a:rPr lang="en-US" sz="1300" dirty="0"/>
                            <m:t>,</m:t>
                          </m:r>
                          <m:r>
                            <a:rPr lang="en-US" sz="1300" i="1" dirty="0"/>
                            <m:t>e</m:t>
                          </m:r>
                        </m:sub>
                        <m:sup>
                          <m:r>
                            <a:rPr lang="en-US" sz="1300" dirty="0"/>
                            <m:t>−</m:t>
                          </m:r>
                        </m:sup>
                      </m:sSubSup>
                      <m:r>
                        <a:rPr lang="en-US" sz="1800" dirty="0"/>
                        <m:t>]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Text 5"/>
              <p:cNvSpPr/>
              <p:nvPr/>
            </p:nvSpPr>
            <p:spPr>
              <a:xfrm>
                <a:off x="762000" y="3619500"/>
                <a:ext cx="14732000" cy="762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A_g = \sum_e 2^{-e} \left[ XM^+_{g,e} - XM^-_{g,e} \right] )</a:t>
                </a:r>
                <a:endParaRPr lang="en-US" sz="1800" dirty="0"/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762000" y="4826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apply scale once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 7"/>
              <p:cNvSpPr/>
              <p:nvPr/>
            </p:nvSpPr>
            <p:spPr>
              <a:xfrm>
                <a:off x="762000" y="53340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Y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α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r>
                        <a:rPr lang="en-US" sz="1800" dirty="0"/>
                        <m:t>⋅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A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9" name="Text 7"/>
              <p:cNvSpPr/>
              <p:nvPr/>
            </p:nvSpPr>
            <p:spPr>
              <a:xfrm>
                <a:off x="762000" y="5334000"/>
                <a:ext cx="14732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Y_g = \alpha_g \cdot A_g )</a:t>
                </a:r>
                <a:endParaRPr lang="en-US" sz="1800" dirty="0"/>
              </a:p>
            </p:txBody>
          </p:sp>
        </mc:Fallback>
      </mc:AlternateContent>
      <p:sp>
        <p:nvSpPr>
          <p:cNvPr id="10" name="Shape 8"/>
          <p:cNvSpPr/>
          <p:nvPr/>
        </p:nvSpPr>
        <p:spPr>
          <a:xfrm>
            <a:off x="762000" y="6477000"/>
            <a:ext cx="50800" cy="6350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11" name="Shape 9"/>
          <p:cNvSpPr/>
          <p:nvPr/>
        </p:nvSpPr>
        <p:spPr>
          <a:xfrm>
            <a:off x="812800" y="6477000"/>
            <a:ext cx="14681200" cy="635000"/>
          </a:xfrm>
          <a:prstGeom prst="rect">
            <a:avLst/>
          </a:prstGeom>
          <a:solidFill>
            <a:srgbClr val="C4882E">
              <a:alpha val="8235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66800" y="6477000"/>
            <a:ext cx="14173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reduces repeated dequantization overhead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scale is applied once per group, not per weight.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Matrix-Level Form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Represent a weight group as: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762000" y="2222500"/>
                <a:ext cx="14732000" cy="63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W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α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dirty="0"/>
                            <m:t>∑</m:t>
                          </m:r>
                        </m:e>
                        <m:sub>
                          <m:r>
                            <a:rPr lang="en-US" sz="1300" i="1" dirty="0"/>
                            <m:t>e</m:t>
                          </m:r>
                          <m:r>
                            <a:rPr lang="en-US" sz="1300" dirty="0"/>
                            <m:t>∈</m:t>
                          </m:r>
                          <m:r>
                            <a:rPr lang="en-US" sz="1300" i="1" dirty="0"/>
                            <m:t>E</m:t>
                          </m:r>
                        </m:sub>
                      </m:sSub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2</m:t>
                          </m:r>
                        </m:e>
                        <m:sup>
                          <m:r>
                            <a:rPr lang="en-US" sz="1300" dirty="0"/>
                            <m:t>−</m:t>
                          </m:r>
                          <m:r>
                            <a:rPr lang="en-US" sz="1300" i="1" dirty="0"/>
                            <m:t>e</m:t>
                          </m:r>
                        </m:sup>
                      </m:sSup>
                      <m:r>
                        <a:rPr lang="en-US" sz="1800" dirty="0"/>
                        <m:t>(</m:t>
                      </m:r>
                      <m:sSubSup>
                        <m:sSubSupPr>
                          <m:ctrlPr>
                            <a:rPr lang="en-US" sz="1300" dirty="0"/>
                          </m:ctrlPr>
                        </m:sSubSup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  <m:r>
                            <a:rPr lang="en-US" sz="1300" dirty="0"/>
                            <m:t>,</m:t>
                          </m:r>
                          <m:r>
                            <a:rPr lang="en-US" sz="1300" i="1" dirty="0"/>
                            <m:t>e</m:t>
                          </m:r>
                        </m:sub>
                        <m:sup>
                          <m:r>
                            <a:rPr lang="en-US" sz="1300" dirty="0"/>
                            <m:t>+</m:t>
                          </m:r>
                        </m:sup>
                      </m:sSubSup>
                      <m:r>
                        <a:rPr lang="en-US" sz="1800" dirty="0"/>
                        <m:t>−</m:t>
                      </m:r>
                      <m:sSubSup>
                        <m:sSubSupPr>
                          <m:ctrlPr>
                            <a:rPr lang="en-US" sz="1300" dirty="0"/>
                          </m:ctrlPr>
                        </m:sSubSup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  <m:r>
                            <a:rPr lang="en-US" sz="1300" dirty="0"/>
                            <m:t>,</m:t>
                          </m:r>
                          <m:r>
                            <a:rPr lang="en-US" sz="1300" i="1" dirty="0"/>
                            <m:t>e</m:t>
                          </m:r>
                        </m:sub>
                        <m:sup>
                          <m:r>
                            <a:rPr lang="en-US" sz="1300" dirty="0"/>
                            <m:t>−</m:t>
                          </m:r>
                        </m:sup>
                      </m:sSubSup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 3"/>
              <p:cNvSpPr/>
              <p:nvPr/>
            </p:nvSpPr>
            <p:spPr>
              <a:xfrm>
                <a:off x="762000" y="2222500"/>
                <a:ext cx="14732000" cy="63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W_g = \alpha_g \sum_{e \in \mathcal{E}} 2^{-e} \left( M^+_{g,e} - M^-_{g,e} \right) )</a:t>
                </a:r>
                <a:endParaRPr lang="en-US" sz="1800" dirty="0"/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762000" y="3238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762000" y="3746500"/>
                <a:ext cx="14732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Y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r>
                        <a:rPr lang="en-US" sz="1800" i="1" dirty="0"/>
                        <m:t>X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W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r>
                        <a:rPr lang="en-US" sz="1800" dirty="0"/>
                        <m:t>=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α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dirty="0"/>
                            <m:t>∑</m:t>
                          </m:r>
                        </m:e>
                        <m:sub>
                          <m:r>
                            <a:rPr lang="en-US" sz="1300" i="1" dirty="0"/>
                            <m:t>e</m:t>
                          </m:r>
                          <m:r>
                            <a:rPr lang="en-US" sz="1300" dirty="0"/>
                            <m:t>∈</m:t>
                          </m:r>
                          <m:r>
                            <a:rPr lang="en-US" sz="1300" i="1" dirty="0"/>
                            <m:t>E</m:t>
                          </m:r>
                        </m:sub>
                      </m:sSub>
                      <m:sSup>
                        <m:sSupPr>
                          <m:ctrlPr>
                            <a:rPr lang="en-US" sz="1300" dirty="0"/>
                          </m:ctrlPr>
                        </m:sSupPr>
                        <m:e>
                          <m:r>
                            <a:rPr lang="en-US" sz="1300" dirty="0"/>
                            <m:t>2</m:t>
                          </m:r>
                        </m:e>
                        <m:sup>
                          <m:r>
                            <a:rPr lang="en-US" sz="1300" dirty="0"/>
                            <m:t>−</m:t>
                          </m:r>
                          <m:r>
                            <a:rPr lang="en-US" sz="1300" i="1" dirty="0"/>
                            <m:t>e</m:t>
                          </m:r>
                        </m:sup>
                      </m:sSup>
                      <m:r>
                        <a:rPr lang="en-US" sz="1800" dirty="0"/>
                        <m:t>[</m:t>
                      </m:r>
                      <m:r>
                        <a:rPr lang="en-US" sz="1800" i="1" dirty="0"/>
                        <m:t>X</m:t>
                      </m:r>
                      <m:sSubSup>
                        <m:sSubSupPr>
                          <m:ctrlPr>
                            <a:rPr lang="en-US" sz="1300" dirty="0"/>
                          </m:ctrlPr>
                        </m:sSubSup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  <m:r>
                            <a:rPr lang="en-US" sz="1300" dirty="0"/>
                            <m:t>,</m:t>
                          </m:r>
                          <m:r>
                            <a:rPr lang="en-US" sz="1300" i="1" dirty="0"/>
                            <m:t>e</m:t>
                          </m:r>
                        </m:sub>
                        <m:sup>
                          <m:r>
                            <a:rPr lang="en-US" sz="1300" dirty="0"/>
                            <m:t>+</m:t>
                          </m:r>
                        </m:sup>
                      </m:sSubSup>
                      <m:r>
                        <a:rPr lang="en-US" sz="1800" dirty="0"/>
                        <m:t>−</m:t>
                      </m:r>
                      <m:r>
                        <a:rPr lang="en-US" sz="1800" i="1" dirty="0"/>
                        <m:t>X</m:t>
                      </m:r>
                      <m:sSubSup>
                        <m:sSubSupPr>
                          <m:ctrlPr>
                            <a:rPr lang="en-US" sz="1300" dirty="0"/>
                          </m:ctrlPr>
                        </m:sSubSup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  <m:r>
                            <a:rPr lang="en-US" sz="1300" dirty="0"/>
                            <m:t>,</m:t>
                          </m:r>
                          <m:r>
                            <a:rPr lang="en-US" sz="1300" i="1" dirty="0"/>
                            <m:t>e</m:t>
                          </m:r>
                        </m:sub>
                        <m:sup>
                          <m:r>
                            <a:rPr lang="en-US" sz="1300" dirty="0"/>
                            <m:t>−</m:t>
                          </m:r>
                        </m:sup>
                      </m:sSubSup>
                      <m:r>
                        <a:rPr lang="en-US" sz="1800" dirty="0"/>
                        <m:t>]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Text 5"/>
              <p:cNvSpPr/>
              <p:nvPr/>
            </p:nvSpPr>
            <p:spPr>
              <a:xfrm>
                <a:off x="762000" y="3746500"/>
                <a:ext cx="14732000" cy="8890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Y_g = XW_g = \alpha_g \sum_{e \in \mathcal{E}} 2^{-e} \left[ XM^+_{g,e} - XM^-_{g,e} \right] )</a:t>
                </a:r>
                <a:endParaRPr lang="en-US" sz="1800" dirty="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762000" y="5080000"/>
            <a:ext cx="14732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9" name="Shape 7"/>
          <p:cNvSpPr/>
          <p:nvPr/>
        </p:nvSpPr>
        <p:spPr>
          <a:xfrm>
            <a:off x="762000" y="5588000"/>
            <a:ext cx="50800" cy="6350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10" name="Shape 8"/>
          <p:cNvSpPr/>
          <p:nvPr/>
        </p:nvSpPr>
        <p:spPr>
          <a:xfrm>
            <a:off x="812800" y="5588000"/>
            <a:ext cx="14681200" cy="635000"/>
          </a:xfrm>
          <a:prstGeom prst="rect">
            <a:avLst/>
          </a:prstGeom>
          <a:solidFill>
            <a:srgbClr val="C4882E">
              <a:alpha val="8235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66800" y="5588000"/>
            <a:ext cx="141732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exposes the hardware execution path directly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matrix multiplication formula.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Claim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method does not use the low-bit code as an integer.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2349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uses the code as a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compact control word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3111500"/>
            <a:ext cx="14732000" cy="889000"/>
          </a:xfrm>
          <a:prstGeom prst="roundRect">
            <a:avLst>
              <a:gd name="adj" fmla="val 5000"/>
            </a:avLst>
          </a:prstGeom>
          <a:solidFill>
            <a:srgbClr val="C4882E">
              <a:alpha val="8235"/>
            </a:srgbClr>
          </a:solidFill>
          <a:ln w="25400">
            <a:solidFill>
              <a:srgbClr val="C4882E"/>
            </a:solidFill>
            <a:prstDash val="solid"/>
          </a:ln>
        </p:spPr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1016000" y="3111500"/>
                <a:ext cx="14224000" cy="889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2000" b="1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code bits</a:t>
                </a:r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 </a:t>
                </a:r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dirty="0"/>
                        <m:t>→</m:t>
                      </m:r>
                    </m:oMath>
                  </m:oMathPara>
                </a14:m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 </a:t>
                </a:r>
                <a:pPr algn="ctr">
                  <a:lnSpc>
                    <a:spcPct val="100000"/>
                  </a:lnSpc>
                </a:pPr>
                <a:r>
                  <a:rPr lang="en-US" sz="2000" b="1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Boolean shift decoder</a:t>
                </a:r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 </a:t>
                </a:r>
                <a:pPr algn="ctr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dirty="0"/>
                        <m:t>→</m:t>
                      </m:r>
                    </m:oMath>
                  </m:oMathPara>
                </a14:m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 </a:t>
                </a:r>
                <a:pPr algn="ctr">
                  <a:lnSpc>
                    <a:spcPct val="100000"/>
                  </a:lnSpc>
                </a:pPr>
                <a:r>
                  <a:rPr lang="en-US" sz="2000" b="1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shift-add dequantization</a:t>
                </a:r>
                <a:endParaRPr lang="en-US" sz="1600" dirty="0"/>
              </a:p>
            </p:txBody>
          </p:sp>
        </mc:Choice>
        <mc:Fallback xmlns="">
          <p:sp>
            <p:nvSpPr>
              <p:cNvPr id="7" name="Text 5"/>
              <p:cNvSpPr/>
              <p:nvPr/>
            </p:nvSpPr>
            <p:spPr>
              <a:xfrm>
                <a:off x="1016000" y="3111500"/>
                <a:ext cx="14224000" cy="889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lang="en-US" sz="2000" b="1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code bits</a:t>
                </a:r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 </a:t>
                </a:r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( \rightarrow )</a:t>
                </a:r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 </a:t>
                </a:r>
                <a:pPr algn="ctr">
                  <a:lnSpc>
                    <a:spcPct val="100000"/>
                  </a:lnSpc>
                </a:pPr>
                <a:r>
                  <a:rPr lang="en-US" sz="2000" b="1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Boolean shift decoder</a:t>
                </a:r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 </a:t>
                </a:r>
                <a:pPr algn="ctr">
                  <a:lnSpc>
                    <a:spcPct val="100000"/>
                  </a:lnSpc>
                </a:pPr>
                <a:r>
                  <a:rPr lang="en-US" sz="1600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( \rightarrow )</a:t>
                </a:r>
                <a:pPr algn="ctr">
                  <a:lnSpc>
                    <a:spcPct val="100000"/>
                  </a:lnSpc>
                </a:pPr>
                <a:r>
                  <a:rPr lang="en-US" sz="2000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 </a:t>
                </a:r>
                <a:pPr algn="ctr">
                  <a:lnSpc>
                    <a:spcPct val="100000"/>
                  </a:lnSpc>
                </a:pPr>
                <a:r>
                  <a:rPr lang="en-US" sz="2000" b="1" dirty="0">
                    <a:solidFill>
                      <a:srgbClr val="2D3A5C"/>
                    </a:solidFill>
                    <a:latin typeface="Liter" pitchFamily="34" charset="0"/>
                    <a:ea typeface="Liter" pitchFamily="34" charset="-122"/>
                    <a:cs typeface="Liter" pitchFamily="34" charset="-120"/>
                  </a:rPr>
                  <a:t>shift-add dequantization</a:t>
                </a:r>
                <a:endParaRPr lang="en-US" sz="1600" dirty="0"/>
              </a:p>
            </p:txBody>
          </p:sp>
        </mc:Fallback>
      </mc:AlternateContent>
      <p:sp>
        <p:nvSpPr>
          <p:cNvPr id="8" name="Text 6"/>
          <p:cNvSpPr/>
          <p:nvPr/>
        </p:nvSpPr>
        <p:spPr>
          <a:xfrm>
            <a:off x="762000" y="4508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gives: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2000" y="5207000"/>
            <a:ext cx="4318000" cy="762000"/>
          </a:xfrm>
          <a:prstGeom prst="roundRect">
            <a:avLst>
              <a:gd name="adj" fmla="val 5000"/>
            </a:avLst>
          </a:prstGeom>
          <a:solidFill>
            <a:srgbClr val="ECECEA"/>
          </a:solidFill>
          <a:ln/>
        </p:spPr>
      </p:sp>
      <p:sp>
        <p:nvSpPr>
          <p:cNvPr id="10" name="Text 8"/>
          <p:cNvSpPr/>
          <p:nvPr/>
        </p:nvSpPr>
        <p:spPr>
          <a:xfrm>
            <a:off x="889000" y="5207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Non-uniform bins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143500" y="5207000"/>
            <a:ext cx="50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488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15000" y="5207000"/>
            <a:ext cx="4318000" cy="762000"/>
          </a:xfrm>
          <a:prstGeom prst="roundRect">
            <a:avLst>
              <a:gd name="adj" fmla="val 5000"/>
            </a:avLst>
          </a:prstGeom>
          <a:solidFill>
            <a:srgbClr val="ECECEA"/>
          </a:solidFill>
          <a:ln/>
        </p:spPr>
      </p:sp>
      <p:sp>
        <p:nvSpPr>
          <p:cNvPr id="13" name="Text 11"/>
          <p:cNvSpPr/>
          <p:nvPr/>
        </p:nvSpPr>
        <p:spPr>
          <a:xfrm>
            <a:off x="5842000" y="5207000"/>
            <a:ext cx="406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Compact storage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96500" y="5207000"/>
            <a:ext cx="50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C4882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+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668000" y="5207000"/>
            <a:ext cx="4826000" cy="762000"/>
          </a:xfrm>
          <a:prstGeom prst="roundRect">
            <a:avLst>
              <a:gd name="adj" fmla="val 5000"/>
            </a:avLst>
          </a:prstGeom>
          <a:solidFill>
            <a:srgbClr val="C4882E">
              <a:alpha val="8235"/>
            </a:srgbClr>
          </a:solidFill>
          <a:ln w="12700">
            <a:solidFill>
              <a:srgbClr val="C488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95000" y="5207000"/>
            <a:ext cx="457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800" b="1" dirty="0">
                <a:solidFill>
                  <a:srgbClr val="C488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Fast hardware execution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Caveat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651000"/>
            <a:ext cx="14732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4882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not automatically faster on every GPU.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62000" y="247650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strongest benefit appears in: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62000" y="3111500"/>
            <a:ext cx="4572000" cy="762000"/>
          </a:xfrm>
          <a:prstGeom prst="roundRect">
            <a:avLst>
              <a:gd name="adj" fmla="val 5000"/>
            </a:avLst>
          </a:prstGeom>
          <a:solidFill>
            <a:srgbClr val="C4882E">
              <a:alpha val="8235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889000" y="3111500"/>
            <a:ext cx="431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Custom accelerator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88000" y="3111500"/>
            <a:ext cx="4572000" cy="762000"/>
          </a:xfrm>
          <a:prstGeom prst="roundRect">
            <a:avLst>
              <a:gd name="adj" fmla="val 5000"/>
            </a:avLst>
          </a:prstGeom>
          <a:solidFill>
            <a:srgbClr val="C4882E">
              <a:alpha val="8235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5715000" y="3111500"/>
            <a:ext cx="4318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ASIC-style PE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0414000" y="3111500"/>
            <a:ext cx="5080000" cy="762000"/>
          </a:xfrm>
          <a:prstGeom prst="roundRect">
            <a:avLst>
              <a:gd name="adj" fmla="val 5000"/>
            </a:avLst>
          </a:prstGeom>
          <a:solidFill>
            <a:srgbClr val="C4882E">
              <a:alpha val="8235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10541000" y="3111500"/>
            <a:ext cx="482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Native shift-add datapath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4381500"/>
            <a:ext cx="14732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3" name="Text 11"/>
          <p:cNvSpPr/>
          <p:nvPr/>
        </p:nvSpPr>
        <p:spPr>
          <a:xfrm>
            <a:off x="762000" y="4699000"/>
            <a:ext cx="14732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FPGA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Boolean logic may still map into FPGA LUT primitives, so the advantage over a tiny shift-pattern LUT may be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smaller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stronger claim is against 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value-LUT dequantization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, where a stored coefficient is fetched and then multiplied.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2000" y="87884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Shift-Decodable Quantization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986000" y="8788400"/>
            <a:ext cx="50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7A7D85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1524000" cy="38100"/>
          </a:xfrm>
          <a:prstGeom prst="rect">
            <a:avLst/>
          </a:prstGeom>
          <a:solidFill>
            <a:srgbClr val="C4882E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825500"/>
            <a:ext cx="1016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Summary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714500"/>
            <a:ext cx="6858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Uniform quantization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 3"/>
              <p:cNvSpPr/>
              <p:nvPr/>
            </p:nvSpPr>
            <p:spPr>
              <a:xfrm>
                <a:off x="762000" y="2159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code</m:t>
                      </m:r>
                      <m:r>
                        <a:rPr lang="en-US" sz="1800" dirty="0"/>
                        <m:t>→</m:t>
                      </m:r>
                      <m:r>
                        <a:rPr lang="en-US" sz="1800" dirty="0"/>
                        <m:t>integer bin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5" name="Text 3"/>
              <p:cNvSpPr/>
              <p:nvPr/>
            </p:nvSpPr>
            <p:spPr>
              <a:xfrm>
                <a:off x="762000" y="2159000"/>
                <a:ext cx="6858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\text{code} \rightarrow \text{integer bin} )</a:t>
                </a:r>
                <a:endParaRPr lang="en-US" sz="1800" dirty="0"/>
              </a:p>
            </p:txBody>
          </p:sp>
        </mc:Fallback>
      </mc:AlternateContent>
      <p:sp>
        <p:nvSpPr>
          <p:cNvPr id="6" name="Text 4"/>
          <p:cNvSpPr/>
          <p:nvPr/>
        </p:nvSpPr>
        <p:spPr>
          <a:xfrm>
            <a:off x="8128000" y="1714500"/>
            <a:ext cx="736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C4882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Proposed method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 5"/>
              <p:cNvSpPr/>
              <p:nvPr/>
            </p:nvSpPr>
            <p:spPr>
              <a:xfrm>
                <a:off x="8128000" y="2159000"/>
                <a:ext cx="7366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800" dirty="0"/>
                        <m:t>code</m:t>
                      </m:r>
                      <m:r>
                        <a:rPr lang="en-US" sz="1800" dirty="0"/>
                        <m:t>→</m:t>
                      </m:r>
                      <m:r>
                        <a:rPr lang="en-US" sz="1800" dirty="0"/>
                        <m:t>non-uniform shift bin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7" name="Text 5"/>
              <p:cNvSpPr/>
              <p:nvPr/>
            </p:nvSpPr>
            <p:spPr>
              <a:xfrm>
                <a:off x="8128000" y="2159000"/>
                <a:ext cx="7366000" cy="508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\text{code} \rightarrow \text{non-uniform shift bin} )</a:t>
                </a:r>
                <a:endParaRPr lang="en-US" sz="1800" dirty="0"/>
              </a:p>
            </p:txBody>
          </p:sp>
        </mc:Fallback>
      </mc:AlternateContent>
      <p:sp>
        <p:nvSpPr>
          <p:cNvPr id="8" name="Shape 6"/>
          <p:cNvSpPr/>
          <p:nvPr/>
        </p:nvSpPr>
        <p:spPr>
          <a:xfrm>
            <a:off x="762000" y="2984500"/>
            <a:ext cx="14732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3302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Fast dequantization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 8"/>
              <p:cNvSpPr/>
              <p:nvPr/>
            </p:nvSpPr>
            <p:spPr>
              <a:xfrm>
                <a:off x="4572000" y="3238500"/>
                <a:ext cx="10922000" cy="571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m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=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dirty="0"/>
                            <m:t>∑</m:t>
                          </m:r>
                        </m:e>
                        <m:sub>
                          <m:r>
                            <a:rPr lang="en-US" sz="1300" i="1" dirty="0"/>
                            <m:t>e</m:t>
                          </m:r>
                          <m:r>
                            <a:rPr lang="en-US" sz="1300" dirty="0"/>
                            <m:t>∈</m:t>
                          </m:r>
                          <m:r>
                            <a:rPr lang="en-US" sz="1300" i="1" dirty="0"/>
                            <m:t>E</m:t>
                          </m:r>
                          <m:r>
                            <a:rPr lang="en-US" sz="1300" dirty="0"/>
                            <m:t>(</m:t>
                          </m:r>
                          <m:r>
                            <a:rPr lang="en-US" sz="1300" i="1" dirty="0"/>
                            <m:t>q</m:t>
                          </m:r>
                          <m:r>
                            <a:rPr lang="en-US" sz="1300" dirty="0"/>
                            <m:t>)</m:t>
                          </m:r>
                        </m:sub>
                      </m:sSub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i="1" dirty="0"/>
                        <m:t>e</m:t>
                      </m:r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0" name="Text 8"/>
              <p:cNvSpPr/>
              <p:nvPr/>
            </p:nvSpPr>
            <p:spPr>
              <a:xfrm>
                <a:off x="4572000" y="3238500"/>
                <a:ext cx="10922000" cy="5715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m_q x = \sum_{e \in \mathcal{E}(q)} (x \gg e) )</a:t>
                </a:r>
                <a:endParaRPr lang="en-US" sz="1800" dirty="0"/>
              </a:p>
            </p:txBody>
          </p:sp>
        </mc:Fallback>
      </mc:AlternateContent>
      <p:sp>
        <p:nvSpPr>
          <p:cNvPr id="11" name="Text 9"/>
          <p:cNvSpPr/>
          <p:nvPr/>
        </p:nvSpPr>
        <p:spPr>
          <a:xfrm>
            <a:off x="762000" y="41275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Final weight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10"/>
              <p:cNvSpPr/>
              <p:nvPr/>
            </p:nvSpPr>
            <p:spPr>
              <a:xfrm>
                <a:off x="3302000" y="4064000"/>
                <a:ext cx="12192000" cy="63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w</m:t>
                          </m:r>
                        </m:e>
                        <m:sub>
                          <m:r>
                            <a:rPr lang="en-US" sz="1300" i="1" dirty="0"/>
                            <m:t>q</m:t>
                          </m:r>
                        </m:sub>
                      </m:sSub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=</m:t>
                      </m:r>
                      <m:r>
                        <a:rPr lang="en-US" sz="1800" i="1" dirty="0"/>
                        <m:t>s</m:t>
                      </m:r>
                      <m:r>
                        <a:rPr lang="en-US" sz="1800" dirty="0"/>
                        <m:t>⋅</m:t>
                      </m:r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i="1" dirty="0"/>
                            <m:t>α</m:t>
                          </m:r>
                        </m:e>
                        <m:sub>
                          <m:r>
                            <a:rPr lang="en-US" sz="1300" i="1" dirty="0"/>
                            <m:t>g</m:t>
                          </m:r>
                        </m:sub>
                      </m:sSub>
                      <m:sSub>
                        <m:sSubPr>
                          <m:ctrlPr>
                            <a:rPr lang="en-US" sz="1300" dirty="0"/>
                          </m:ctrlPr>
                        </m:sSubPr>
                        <m:e>
                          <m:r>
                            <a:rPr lang="en-US" sz="1300" dirty="0"/>
                            <m:t>∑</m:t>
                          </m:r>
                        </m:e>
                        <m:sub>
                          <m:r>
                            <a:rPr lang="en-US" sz="1300" i="1" dirty="0"/>
                            <m:t>e</m:t>
                          </m:r>
                          <m:r>
                            <a:rPr lang="en-US" sz="1300" dirty="0"/>
                            <m:t>∈</m:t>
                          </m:r>
                          <m:r>
                            <a:rPr lang="en-US" sz="1300" i="1" dirty="0"/>
                            <m:t>E</m:t>
                          </m:r>
                          <m:r>
                            <a:rPr lang="en-US" sz="1300" dirty="0"/>
                            <m:t>(</m:t>
                          </m:r>
                          <m:r>
                            <a:rPr lang="en-US" sz="1300" i="1" dirty="0"/>
                            <m:t>q</m:t>
                          </m:r>
                          <m:r>
                            <a:rPr lang="en-US" sz="1300" dirty="0"/>
                            <m:t>)</m:t>
                          </m:r>
                        </m:sub>
                      </m:sSub>
                      <m:r>
                        <a:rPr lang="en-US" sz="1800" dirty="0"/>
                        <m:t>(</m:t>
                      </m:r>
                      <m:r>
                        <a:rPr lang="en-US" sz="1800" i="1" dirty="0"/>
                        <m:t>x</m:t>
                      </m:r>
                      <m:r>
                        <a:rPr lang="en-US" sz="1800" dirty="0"/>
                        <m:t>≫</m:t>
                      </m:r>
                      <m:r>
                        <a:rPr lang="en-US" sz="1800" i="1" dirty="0"/>
                        <m:t>e</m:t>
                      </m:r>
                      <m:r>
                        <a:rPr lang="en-US" sz="1800" dirty="0"/>
                        <m:t>)</m:t>
                      </m:r>
                    </m:oMath>
                  </m:oMathPara>
                </a14:m>
                <a:endParaRPr lang="en-US" sz="1800" dirty="0"/>
              </a:p>
            </p:txBody>
          </p:sp>
        </mc:Choice>
        <mc:Fallback xmlns="">
          <p:sp>
            <p:nvSpPr>
              <p:cNvPr id="12" name="Text 10"/>
              <p:cNvSpPr/>
              <p:nvPr/>
            </p:nvSpPr>
            <p:spPr>
              <a:xfrm>
                <a:off x="3302000" y="4064000"/>
                <a:ext cx="12192000" cy="63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ctr"/>
              <a:lstStyle/>
              <a:p>
                <a:pPr algn="l">
                  <a:lnSpc>
                    <a:spcPct val="180000"/>
                  </a:lnSpc>
                </a:pPr>
                <a:r>
                  <a:rPr lang="en-US" sz="1800" dirty="0">
                    <a:solidFill>
                      <a:srgbClr val="1E1E24"/>
                    </a:solidFill>
                    <a:latin typeface="QuattrocentoSans" pitchFamily="34" charset="0"/>
                    <a:ea typeface="QuattrocentoSans" pitchFamily="34" charset="-122"/>
                    <a:cs typeface="QuattrocentoSans" pitchFamily="34" charset="-120"/>
                  </a:rPr>
                  <a:t>( w_q x = s \cdot \alpha_g \sum_{e \in \mathcal{E}(q)} (x \gg e) )</a:t>
                </a:r>
                <a:endParaRPr lang="en-US" sz="1800" dirty="0"/>
              </a:p>
            </p:txBody>
          </p:sp>
        </mc:Fallback>
      </mc:AlternateContent>
      <p:sp>
        <p:nvSpPr>
          <p:cNvPr id="13" name="Shape 11"/>
          <p:cNvSpPr/>
          <p:nvPr/>
        </p:nvSpPr>
        <p:spPr>
          <a:xfrm>
            <a:off x="762000" y="5080000"/>
            <a:ext cx="14732000" cy="12700"/>
          </a:xfrm>
          <a:prstGeom prst="rect">
            <a:avLst/>
          </a:prstGeom>
          <a:solidFill>
            <a:srgbClr val="D0D0D0"/>
          </a:solidFill>
          <a:ln/>
        </p:spPr>
      </p:sp>
      <p:sp>
        <p:nvSpPr>
          <p:cNvPr id="14" name="Text 12"/>
          <p:cNvSpPr/>
          <p:nvPr/>
        </p:nvSpPr>
        <p:spPr>
          <a:xfrm>
            <a:off x="762000" y="5461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Final takeaway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24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: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24000" y="6159500"/>
            <a:ext cx="13208000" cy="1143000"/>
          </a:xfrm>
          <a:prstGeom prst="roundRect">
            <a:avLst>
              <a:gd name="adj" fmla="val 5000"/>
            </a:avLst>
          </a:prstGeom>
          <a:solidFill>
            <a:srgbClr val="C4882E">
              <a:alpha val="8235"/>
            </a:srgbClr>
          </a:solidFill>
          <a:ln w="25400">
            <a:solidFill>
              <a:srgbClr val="C488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05000" y="6159500"/>
            <a:ext cx="1244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Non-uniform quantization can be hardware-fast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2000" b="1" dirty="0">
                <a:solidFill>
                  <a:srgbClr val="2D3A5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when bins are Boolean-decodable into shifts.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8636000"/>
            <a:ext cx="16256000" cy="508000"/>
          </a:xfrm>
          <a:prstGeom prst="rect">
            <a:avLst/>
          </a:prstGeom>
          <a:solidFill>
            <a:srgbClr val="2D3A5C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quantization.pptd</dc:title>
  <dc:subject>quantization.pptd</dc:subject>
  <dc:creator>Kimi</dc:creator>
  <cp:lastModifiedBy>Kimi</cp:lastModifiedBy>
  <cp:revision>1</cp:revision>
  <dcterms:created xsi:type="dcterms:W3CDTF">2026-05-18T06:50:16Z</dcterms:created>
  <dcterms:modified xsi:type="dcterms:W3CDTF">2026-05-18T06:50:16Z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{"Label":"quantization.pptd","ContentProducer":"001191110108MACG2KBH8F10000","ProduceID":"","ReservedCode1":"","ContentPropagator":"001191110108MACG2KBH8F20000","PropagateID":"","ReservedCode2":""}</vt:lpwstr>
  </property>
</Properties>
</file>