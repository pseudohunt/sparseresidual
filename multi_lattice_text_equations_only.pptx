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Multi-Lattice Calibration for Post-Training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Each weight learns which lattice spacing to use from a carrier-embedded family.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Each weight also learns a neighboring-point projection inside the selected spacing.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All parameters are optimized under one reconstruction-driven post-training objective.</a:t>
            </a:r>
          </a:p>
        </p:txBody>
      </p:sp>
      <p:pic>
        <p:nvPicPr>
          <p:cNvPr id="4" name="Picture 3" descr="eq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950464" cy="417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Carrier lattice and sub-lattice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For each group g, define one carrier lattice and a family of allowed sub-lattice multipliers.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Examples of multiplier sets: {1,2,4}, {3,5,15}, {12,30,60}.</a:t>
            </a:r>
          </a:p>
        </p:txBody>
      </p:sp>
      <p:pic>
        <p:nvPicPr>
          <p:cNvPr id="4" name="Picture 3" descr="eq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676144" cy="426720"/>
          </a:xfrm>
          <a:prstGeom prst="rect">
            <a:avLst/>
          </a:prstGeom>
        </p:spPr>
      </p:pic>
      <p:pic>
        <p:nvPicPr>
          <p:cNvPr id="5" name="Picture 4" descr="eq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2680"/>
            <a:ext cx="2337816" cy="384048"/>
          </a:xfrm>
          <a:prstGeom prst="rect">
            <a:avLst/>
          </a:prstGeom>
        </p:spPr>
      </p:pic>
      <p:pic>
        <p:nvPicPr>
          <p:cNvPr id="6" name="Picture 5" descr="eq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13888"/>
            <a:ext cx="2660904" cy="426720"/>
          </a:xfrm>
          <a:prstGeom prst="rect">
            <a:avLst/>
          </a:prstGeom>
        </p:spPr>
      </p:pic>
      <p:pic>
        <p:nvPicPr>
          <p:cNvPr id="7" name="Picture 6" descr="eq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7768"/>
            <a:ext cx="1588008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Per-weight lattice-family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Each weight learns a soft preference over the entire sub-lattice family.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effective spacing is the carrier scale times the selected multiplier mixture.</a:t>
            </a:r>
          </a:p>
        </p:txBody>
      </p:sp>
      <p:pic>
        <p:nvPicPr>
          <p:cNvPr id="4" name="Picture 3" descr="eq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033015" cy="978408"/>
          </a:xfrm>
          <a:prstGeom prst="rect">
            <a:avLst/>
          </a:prstGeom>
        </p:spPr>
      </p:pic>
      <p:pic>
        <p:nvPicPr>
          <p:cNvPr id="5" name="Picture 4" descr="eq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1341120" cy="819912"/>
          </a:xfrm>
          <a:prstGeom prst="rect">
            <a:avLst/>
          </a:prstGeom>
        </p:spPr>
      </p:pic>
      <p:pic>
        <p:nvPicPr>
          <p:cNvPr id="6" name="Picture 5" descr="eq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01440"/>
            <a:ext cx="2084831" cy="819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Neighboring-point projection inside the chosen lattice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After forming the effective spacing, each weight is projected between its two nearest lattice points.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fractional projector determines the local position within that interval.</a:t>
            </a:r>
          </a:p>
        </p:txBody>
      </p:sp>
      <p:pic>
        <p:nvPicPr>
          <p:cNvPr id="4" name="Picture 3" descr="eq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109472" cy="478536"/>
          </a:xfrm>
          <a:prstGeom prst="rect">
            <a:avLst/>
          </a:prstGeom>
        </p:spPr>
      </p:pic>
      <p:pic>
        <p:nvPicPr>
          <p:cNvPr id="5" name="Picture 4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44496"/>
            <a:ext cx="1392936" cy="341376"/>
          </a:xfrm>
          <a:prstGeom prst="rect">
            <a:avLst/>
          </a:prstGeom>
        </p:spPr>
      </p:pic>
      <p:pic>
        <p:nvPicPr>
          <p:cNvPr id="6" name="Picture 5" descr="eq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3032"/>
            <a:ext cx="1566672" cy="341376"/>
          </a:xfrm>
          <a:prstGeom prst="rect">
            <a:avLst/>
          </a:prstGeom>
        </p:spPr>
      </p:pic>
      <p:pic>
        <p:nvPicPr>
          <p:cNvPr id="7" name="Picture 6" descr="eq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01568"/>
            <a:ext cx="3240024" cy="481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Unified multi-lattice quantization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Lattice-family selection and neighboring-point projection combine into one operator.</a:t>
            </a:r>
          </a:p>
        </p:txBody>
      </p:sp>
      <p:pic>
        <p:nvPicPr>
          <p:cNvPr id="4" name="Picture 3" descr="eq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892552" cy="792480"/>
          </a:xfrm>
          <a:prstGeom prst="rect">
            <a:avLst/>
          </a:prstGeom>
        </p:spPr>
      </p:pic>
      <p:pic>
        <p:nvPicPr>
          <p:cNvPr id="5" name="Picture 4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58440"/>
            <a:ext cx="3791712" cy="792480"/>
          </a:xfrm>
          <a:prstGeom prst="rect">
            <a:avLst/>
          </a:prstGeom>
        </p:spPr>
      </p:pic>
      <p:pic>
        <p:nvPicPr>
          <p:cNvPr id="6" name="Picture 5" descr="eq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88080"/>
            <a:ext cx="2130552" cy="368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Single reconstruction-driven calibration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Calibration is block-wise, post-training, and uses frozen pretrained weights with unlabeled data.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Both lattice choice and local projection are learned under one objective.</a:t>
            </a:r>
          </a:p>
        </p:txBody>
      </p:sp>
      <p:pic>
        <p:nvPicPr>
          <p:cNvPr id="4" name="Picture 3" descr="eq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870960" cy="582168"/>
          </a:xfrm>
          <a:prstGeom prst="rect">
            <a:avLst/>
          </a:prstGeom>
        </p:spPr>
      </p:pic>
      <p:pic>
        <p:nvPicPr>
          <p:cNvPr id="5" name="Picture 4" descr="eq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48128"/>
            <a:ext cx="3340608" cy="600456"/>
          </a:xfrm>
          <a:prstGeom prst="rect">
            <a:avLst/>
          </a:prstGeom>
        </p:spPr>
      </p:pic>
      <p:pic>
        <p:nvPicPr>
          <p:cNvPr id="6" name="Picture 5" descr="eq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85744"/>
            <a:ext cx="2993136" cy="600456"/>
          </a:xfrm>
          <a:prstGeom prst="rect">
            <a:avLst/>
          </a:prstGeom>
        </p:spPr>
      </p:pic>
      <p:pic>
        <p:nvPicPr>
          <p:cNvPr id="7" name="Picture 6" descr="eq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23360"/>
            <a:ext cx="2060448" cy="283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Partition-conditioned lattice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Each candidate lattice is calibrated primarily by the subset of weights that prefers it.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partitions and the lattice scales co-adapt during calibration.</a:t>
            </a:r>
          </a:p>
        </p:txBody>
      </p:sp>
      <p:pic>
        <p:nvPicPr>
          <p:cNvPr id="4" name="Picture 3" descr="eq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926080" cy="432816"/>
          </a:xfrm>
          <a:prstGeom prst="rect">
            <a:avLst/>
          </a:prstGeom>
        </p:spPr>
      </p:pic>
      <p:pic>
        <p:nvPicPr>
          <p:cNvPr id="5" name="Picture 4" descr="eq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8775"/>
            <a:ext cx="3322320" cy="573024"/>
          </a:xfrm>
          <a:prstGeom prst="rect">
            <a:avLst/>
          </a:prstGeom>
        </p:spPr>
      </p:pic>
      <p:pic>
        <p:nvPicPr>
          <p:cNvPr id="6" name="Picture 5" descr="eq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08960"/>
            <a:ext cx="1328928" cy="74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Hardening into the execution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Continuous calibration variables are hardened for deployment.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final deployed tensor is discrete and concrete.</a:t>
            </a:r>
          </a:p>
        </p:txBody>
      </p:sp>
      <p:pic>
        <p:nvPicPr>
          <p:cNvPr id="4" name="Picture 3" descr="eq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011680" cy="542544"/>
          </a:xfrm>
          <a:prstGeom prst="rect">
            <a:avLst/>
          </a:prstGeom>
        </p:spPr>
      </p:pic>
      <p:pic>
        <p:nvPicPr>
          <p:cNvPr id="5" name="Picture 4" descr="eq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08504"/>
            <a:ext cx="2542032" cy="341376"/>
          </a:xfrm>
          <a:prstGeom prst="rect">
            <a:avLst/>
          </a:prstGeom>
        </p:spPr>
      </p:pic>
      <p:pic>
        <p:nvPicPr>
          <p:cNvPr id="6" name="Picture 5" descr="eq_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87040"/>
            <a:ext cx="3060192" cy="44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Execution image and entropy-coded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deployed model is emitted as one quantized object and one symbol stream.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Structured symbol occupancy can be compressed with entropy coding such as Huffman coding.</a:t>
            </a:r>
          </a:p>
        </p:txBody>
      </p:sp>
      <p:pic>
        <p:nvPicPr>
          <p:cNvPr id="4" name="Picture 3" descr="eq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853184" cy="402336"/>
          </a:xfrm>
          <a:prstGeom prst="rect">
            <a:avLst/>
          </a:prstGeom>
        </p:spPr>
      </p:pic>
      <p:pic>
        <p:nvPicPr>
          <p:cNvPr id="5" name="Picture 4" descr="eq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68296"/>
            <a:ext cx="1133856" cy="332232"/>
          </a:xfrm>
          <a:prstGeom prst="rect">
            <a:avLst/>
          </a:prstGeom>
        </p:spPr>
      </p:pic>
      <p:pic>
        <p:nvPicPr>
          <p:cNvPr id="6" name="Picture 5" descr="eq_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37687"/>
            <a:ext cx="1606296" cy="377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Simplified embodiment: two-lattice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The two-lattice form is a constrained embodiment of the general multi-lattice framework.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Set the multiplier family to {1,2} and replace the family selector with one scalar modulator.</a:t>
            </a:r>
          </a:p>
        </p:txBody>
      </p:sp>
      <p:pic>
        <p:nvPicPr>
          <p:cNvPr id="4" name="Picture 3" descr="eq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121664" cy="338328"/>
          </a:xfrm>
          <a:prstGeom prst="rect">
            <a:avLst/>
          </a:prstGeom>
        </p:spPr>
      </p:pic>
      <p:pic>
        <p:nvPicPr>
          <p:cNvPr id="5" name="Picture 4" descr="eq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4288"/>
            <a:ext cx="2136648" cy="310896"/>
          </a:xfrm>
          <a:prstGeom prst="rect">
            <a:avLst/>
          </a:prstGeom>
        </p:spPr>
      </p:pic>
      <p:pic>
        <p:nvPicPr>
          <p:cNvPr id="6" name="Picture 5" descr="eq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52344"/>
            <a:ext cx="4718304" cy="44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Claim-facing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A carrier lattice with a family of embedded sub-lattices.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A learnable lattice-family selector and a learnable neighboring-point projector.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Joint optimization under one reconstruction objective, followed by hardening into an entropy-coded execution image.</a:t>
            </a:r>
          </a:p>
        </p:txBody>
      </p:sp>
      <p:pic>
        <p:nvPicPr>
          <p:cNvPr id="4" name="Picture 3" descr="eq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588008" cy="344424"/>
          </a:xfrm>
          <a:prstGeom prst="rect">
            <a:avLst/>
          </a:prstGeom>
        </p:spPr>
      </p:pic>
      <p:pic>
        <p:nvPicPr>
          <p:cNvPr id="5" name="Picture 4" descr="eq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47544"/>
            <a:ext cx="2694432" cy="374904"/>
          </a:xfrm>
          <a:prstGeom prst="rect">
            <a:avLst/>
          </a:prstGeom>
        </p:spPr>
      </p:pic>
      <p:pic>
        <p:nvPicPr>
          <p:cNvPr id="6" name="Picture 5" descr="eq_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59608"/>
            <a:ext cx="1267968" cy="332232"/>
          </a:xfrm>
          <a:prstGeom prst="rect">
            <a:avLst/>
          </a:prstGeom>
        </p:spPr>
      </p:pic>
      <p:pic>
        <p:nvPicPr>
          <p:cNvPr id="7" name="Picture 6" descr="eq_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29000"/>
            <a:ext cx="1703832" cy="371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67160" y="641908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