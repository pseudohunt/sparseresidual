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Sorts Mill Goudy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5880100" cy="508000"/>
          </a:xfrm>
          <a:prstGeom prst="roundRect">
            <a:avLst>
              <a:gd name="adj" fmla="val 0"/>
            </a:avLst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508000" y="508000"/>
            <a:ext cx="5981700" cy="508000"/>
          </a:xfrm>
          <a:prstGeom prst="rect">
            <a:avLst/>
          </a:prstGeom>
          <a:noFill/>
          <a:ln/>
        </p:spPr>
        <p:txBody>
          <a:bodyPr wrap="square" lIns="203200" tIns="101600" rIns="203200" bIns="10160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POST-TRAINING QUANTIZATION FRAMEWORK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8000" y="1320800"/>
            <a:ext cx="15621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Lattice-Family Calibration for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Post-Training Quantization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3530600"/>
            <a:ext cx="1625600" cy="50800"/>
          </a:xfrm>
          <a:prstGeom prst="roundRect">
            <a:avLst>
              <a:gd name="adj" fmla="val 0"/>
            </a:avLst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508000" y="3886200"/>
            <a:ext cx="15392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Joint learning of local stride and neighboring-site relaxation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8000" y="7073900"/>
            <a:ext cx="15240000" cy="25400"/>
          </a:xfrm>
          <a:prstGeom prst="roundRect">
            <a:avLst>
              <a:gd name="adj" fmla="val 0"/>
            </a:avLst>
          </a:prstGeom>
          <a:solidFill>
            <a:srgbClr val="6B7280"/>
          </a:solidFill>
          <a:ln/>
        </p:spPr>
      </p:sp>
      <p:sp>
        <p:nvSpPr>
          <p:cNvPr id="8" name="Text 6"/>
          <p:cNvSpPr/>
          <p:nvPr/>
        </p:nvSpPr>
        <p:spPr>
          <a:xfrm>
            <a:off x="508000" y="7493000"/>
            <a:ext cx="751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CORE EQUATION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8000" y="7899400"/>
            <a:ext cx="7543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$\hat{W} = \mathcal{Q}_{\text{LFC}}(W; S, \Alpha, \Gamma)$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31200" y="7493000"/>
            <a:ext cx="7518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ONE-LINE TAKEAWAY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31200" y="7899400"/>
            <a:ext cx="75311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invention learns how each weight moves across a lattice family and where it stabilizes locally within that movement.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334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1.1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47353" y="508000"/>
            <a:ext cx="10248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Carrier Lattice and Admissible Lattice Pathways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0800" y="1117600"/>
            <a:ext cx="145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Lattice family as a displacement-stride medium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676400"/>
            <a:ext cx="7442200" cy="2540000"/>
          </a:xfrm>
          <a:custGeom>
            <a:avLst/>
            <a:gdLst/>
            <a:ahLst/>
            <a:cxnLst/>
            <a:rect l="l" t="t" r="r" b="b"/>
            <a:pathLst>
              <a:path w="7442200" h="25400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2438400"/>
                </a:lnTo>
                <a:cubicBezTo>
                  <a:pt x="7442200" y="2494475"/>
                  <a:pt x="7396675" y="2540000"/>
                  <a:pt x="7340600" y="2540000"/>
                </a:cubicBezTo>
                <a:lnTo>
                  <a:pt x="50800" y="2540000"/>
                </a:lnTo>
                <a:cubicBezTo>
                  <a:pt x="22763" y="2540000"/>
                  <a:pt x="0" y="2517237"/>
                  <a:pt x="0" y="2489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676400"/>
            <a:ext cx="50800" cy="2540000"/>
          </a:xfrm>
          <a:custGeom>
            <a:avLst/>
            <a:gdLst/>
            <a:ahLst/>
            <a:cxnLst/>
            <a:rect l="l" t="t" r="r" b="b"/>
            <a:pathLst>
              <a:path w="50800" h="2540000">
                <a:moveTo>
                  <a:pt x="50800" y="0"/>
                </a:moveTo>
                <a:lnTo>
                  <a:pt x="50800" y="0"/>
                </a:lnTo>
                <a:lnTo>
                  <a:pt x="50800" y="2540000"/>
                </a:lnTo>
                <a:lnTo>
                  <a:pt x="50800" y="2540000"/>
                </a:lnTo>
                <a:cubicBezTo>
                  <a:pt x="22763" y="2540000"/>
                  <a:pt x="0" y="2517237"/>
                  <a:pt x="0" y="2489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8796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Carrier Coordinate System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387600"/>
            <a:ext cx="711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For each group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define the carrier coordinate of a weight: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870200"/>
            <a:ext cx="7010400" cy="6604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98500" y="30226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$c_{g,i} = \frac{w_{g,i}}{s_g}$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2000" y="3683000"/>
            <a:ext cx="711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This places all weights on a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shared carrier coordinate system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3400" y="4419600"/>
            <a:ext cx="7442200" cy="3200400"/>
          </a:xfrm>
          <a:custGeom>
            <a:avLst/>
            <a:gdLst/>
            <a:ahLst/>
            <a:cxnLst/>
            <a:rect l="l" t="t" r="r" b="b"/>
            <a:pathLst>
              <a:path w="7442200" h="32004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3098800"/>
                </a:lnTo>
                <a:cubicBezTo>
                  <a:pt x="7442200" y="3154875"/>
                  <a:pt x="7396675" y="3200400"/>
                  <a:pt x="7340600" y="3200400"/>
                </a:cubicBezTo>
                <a:lnTo>
                  <a:pt x="50800" y="3200400"/>
                </a:lnTo>
                <a:cubicBezTo>
                  <a:pt x="22763" y="3200400"/>
                  <a:pt x="0" y="3177637"/>
                  <a:pt x="0" y="314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3" name="Shape 11"/>
          <p:cNvSpPr/>
          <p:nvPr/>
        </p:nvSpPr>
        <p:spPr>
          <a:xfrm>
            <a:off x="533400" y="4419600"/>
            <a:ext cx="50800" cy="3200400"/>
          </a:xfrm>
          <a:custGeom>
            <a:avLst/>
            <a:gdLst/>
            <a:ahLst/>
            <a:cxnLst/>
            <a:rect l="l" t="t" r="r" b="b"/>
            <a:pathLst>
              <a:path w="50800" h="3200400">
                <a:moveTo>
                  <a:pt x="50800" y="0"/>
                </a:moveTo>
                <a:lnTo>
                  <a:pt x="50800" y="0"/>
                </a:lnTo>
                <a:lnTo>
                  <a:pt x="50800" y="3200400"/>
                </a:lnTo>
                <a:lnTo>
                  <a:pt x="50800" y="3200400"/>
                </a:lnTo>
                <a:cubicBezTo>
                  <a:pt x="22763" y="3200400"/>
                  <a:pt x="0" y="3177637"/>
                  <a:pt x="0" y="314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46228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Lattice Family Definition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5130800"/>
            <a:ext cx="711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Define a family of admissible displacement strides: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613400"/>
            <a:ext cx="7010400" cy="6604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04850" y="5765800"/>
            <a:ext cx="712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$\mathcal{D}_g = \left\{d_g^{(1)}, d_g^{(2)}, \ldots, d_g^{(K)}\right\}$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6426200"/>
            <a:ext cx="711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Each family member defines a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lattice pathway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: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6756400"/>
            <a:ext cx="7010400" cy="6604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04850" y="6908800"/>
            <a:ext cx="712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$\mathcal{L}_g^{(k)} = \left\{n \, d_g^{(k)} \mid n \in \mathbb{Z}\right\}$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05800" y="1676400"/>
            <a:ext cx="7442200" cy="3454400"/>
          </a:xfrm>
          <a:custGeom>
            <a:avLst/>
            <a:gdLst/>
            <a:ahLst/>
            <a:cxnLst/>
            <a:rect l="l" t="t" r="r" b="b"/>
            <a:pathLst>
              <a:path w="7442200" h="34544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3352800"/>
                </a:lnTo>
                <a:cubicBezTo>
                  <a:pt x="7442200" y="3408875"/>
                  <a:pt x="7396675" y="3454400"/>
                  <a:pt x="7340600" y="3454400"/>
                </a:cubicBezTo>
                <a:lnTo>
                  <a:pt x="50800" y="3454400"/>
                </a:lnTo>
                <a:cubicBezTo>
                  <a:pt x="22763" y="3454400"/>
                  <a:pt x="0" y="3431637"/>
                  <a:pt x="0" y="340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2" name="Shape 20"/>
          <p:cNvSpPr/>
          <p:nvPr/>
        </p:nvSpPr>
        <p:spPr>
          <a:xfrm>
            <a:off x="8305800" y="1676400"/>
            <a:ext cx="50800" cy="3454400"/>
          </a:xfrm>
          <a:custGeom>
            <a:avLst/>
            <a:gdLst/>
            <a:ahLst/>
            <a:cxnLst/>
            <a:rect l="l" t="t" r="r" b="b"/>
            <a:pathLst>
              <a:path w="50800" h="3454400">
                <a:moveTo>
                  <a:pt x="50800" y="0"/>
                </a:moveTo>
                <a:lnTo>
                  <a:pt x="50800" y="0"/>
                </a:lnTo>
                <a:lnTo>
                  <a:pt x="50800" y="3454400"/>
                </a:lnTo>
                <a:lnTo>
                  <a:pt x="50800" y="3454400"/>
                </a:lnTo>
                <a:cubicBezTo>
                  <a:pt x="22763" y="3454400"/>
                  <a:pt x="0" y="3431637"/>
                  <a:pt x="0" y="3403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3" name="Text 21"/>
          <p:cNvSpPr/>
          <p:nvPr/>
        </p:nvSpPr>
        <p:spPr>
          <a:xfrm>
            <a:off x="8534400" y="18796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34400" y="2387600"/>
            <a:ext cx="711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All family members live on the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same carrier structure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; what changes is the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F9FAFB"/>
                </a:solidFill>
                <a:highlight>
                  <a:srgbClr val="8B0000">
                    <a:alpha val="10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movement stride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not the ambient coordinate system.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40750" y="3206750"/>
            <a:ext cx="6997700" cy="171450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99500" y="3365500"/>
            <a:ext cx="678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Materials Analogy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99500" y="3771900"/>
            <a:ext cx="6781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Like ionic migration in a crystalline medium, the host structure is fixed, but different local pathways admit different hopping distances between stable sites.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80400" y="5334000"/>
            <a:ext cx="7467600" cy="1651000"/>
          </a:xfrm>
          <a:prstGeom prst="roundRect">
            <a:avLst>
              <a:gd name="adj" fmla="val 6154"/>
            </a:avLst>
          </a:prstGeom>
          <a:solidFill>
            <a:srgbClr val="8B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8483600" y="5537200"/>
            <a:ext cx="718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One-Line Takeaway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83600" y="6045200"/>
            <a:ext cx="7175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 lattice family is a family of admissible movement strides over one shared carrier structure.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33400"/>
            <a:ext cx="622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1.2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96169" y="508000"/>
            <a:ext cx="6070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Learnable Local Stride Field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0800" y="1117600"/>
            <a:ext cx="145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Per-weight learned local hopping stride over the carrier lattice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676400"/>
            <a:ext cx="8991600" cy="3175000"/>
          </a:xfrm>
          <a:custGeom>
            <a:avLst/>
            <a:gdLst/>
            <a:ahLst/>
            <a:cxnLst/>
            <a:rect l="l" t="t" r="r" b="b"/>
            <a:pathLst>
              <a:path w="8991600" h="3175000">
                <a:moveTo>
                  <a:pt x="50800" y="0"/>
                </a:moveTo>
                <a:lnTo>
                  <a:pt x="8890000" y="0"/>
                </a:lnTo>
                <a:cubicBezTo>
                  <a:pt x="8946075" y="0"/>
                  <a:pt x="8991600" y="45525"/>
                  <a:pt x="8991600" y="101600"/>
                </a:cubicBezTo>
                <a:lnTo>
                  <a:pt x="8991600" y="3073400"/>
                </a:lnTo>
                <a:cubicBezTo>
                  <a:pt x="8991600" y="3129475"/>
                  <a:pt x="8946075" y="3175000"/>
                  <a:pt x="8890000" y="3175000"/>
                </a:cubicBezTo>
                <a:lnTo>
                  <a:pt x="50800" y="3175000"/>
                </a:lnTo>
                <a:cubicBezTo>
                  <a:pt x="22763" y="3175000"/>
                  <a:pt x="0" y="3152237"/>
                  <a:pt x="0" y="3124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676400"/>
            <a:ext cx="50800" cy="3175000"/>
          </a:xfrm>
          <a:custGeom>
            <a:avLst/>
            <a:gdLst/>
            <a:ahLst/>
            <a:cxnLst/>
            <a:rect l="l" t="t" r="r" b="b"/>
            <a:pathLst>
              <a:path w="50800" h="3175000">
                <a:moveTo>
                  <a:pt x="50800" y="0"/>
                </a:moveTo>
                <a:lnTo>
                  <a:pt x="50800" y="0"/>
                </a:lnTo>
                <a:lnTo>
                  <a:pt x="50800" y="3175000"/>
                </a:lnTo>
                <a:lnTo>
                  <a:pt x="50800" y="3175000"/>
                </a:lnTo>
                <a:cubicBezTo>
                  <a:pt x="22763" y="3175000"/>
                  <a:pt x="0" y="3152237"/>
                  <a:pt x="0" y="3124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879600"/>
            <a:ext cx="868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Soft Family Selection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387600"/>
            <a:ext cx="8661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Each weight learns a relaxed preference over the lattice family via softmax: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870200"/>
            <a:ext cx="8559800" cy="11176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04850" y="3073400"/>
            <a:ext cx="86741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$\pi_{g,i}^{(k)} = \frac{\exp\!\left(\gamma_{g,i}^{(k)}/T\right)}{\sum_{j=1}^{K}\exp\!\left(\gamma_{g,i}^{(j)}/T\right)}$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4089400"/>
            <a:ext cx="8559800" cy="5588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04850" y="4191000"/>
            <a:ext cx="867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$\sum_{k=1}^{K}\pi_{g,i}^{(k)} = 1$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3400" y="5054600"/>
            <a:ext cx="8991600" cy="2159000"/>
          </a:xfrm>
          <a:custGeom>
            <a:avLst/>
            <a:gdLst/>
            <a:ahLst/>
            <a:cxnLst/>
            <a:rect l="l" t="t" r="r" b="b"/>
            <a:pathLst>
              <a:path w="8991600" h="2159000">
                <a:moveTo>
                  <a:pt x="50800" y="0"/>
                </a:moveTo>
                <a:lnTo>
                  <a:pt x="8890000" y="0"/>
                </a:lnTo>
                <a:cubicBezTo>
                  <a:pt x="8946075" y="0"/>
                  <a:pt x="8991600" y="45525"/>
                  <a:pt x="8991600" y="101600"/>
                </a:cubicBezTo>
                <a:lnTo>
                  <a:pt x="8991600" y="2057400"/>
                </a:lnTo>
                <a:cubicBezTo>
                  <a:pt x="8991600" y="2113475"/>
                  <a:pt x="8946075" y="2159000"/>
                  <a:pt x="8890000" y="2159000"/>
                </a:cubicBezTo>
                <a:lnTo>
                  <a:pt x="50800" y="2159000"/>
                </a:lnTo>
                <a:cubicBezTo>
                  <a:pt x="22763" y="2159000"/>
                  <a:pt x="0" y="2136237"/>
                  <a:pt x="0" y="2108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4" name="Shape 12"/>
          <p:cNvSpPr/>
          <p:nvPr/>
        </p:nvSpPr>
        <p:spPr>
          <a:xfrm>
            <a:off x="533400" y="5054600"/>
            <a:ext cx="50800" cy="2159000"/>
          </a:xfrm>
          <a:custGeom>
            <a:avLst/>
            <a:gdLst/>
            <a:ahLst/>
            <a:cxnLst/>
            <a:rect l="l" t="t" r="r" b="b"/>
            <a:pathLst>
              <a:path w="50800" h="2159000">
                <a:moveTo>
                  <a:pt x="50800" y="0"/>
                </a:moveTo>
                <a:lnTo>
                  <a:pt x="50800" y="0"/>
                </a:lnTo>
                <a:lnTo>
                  <a:pt x="50800" y="2159000"/>
                </a:lnTo>
                <a:lnTo>
                  <a:pt x="50800" y="2159000"/>
                </a:lnTo>
                <a:cubicBezTo>
                  <a:pt x="22763" y="2159000"/>
                  <a:pt x="0" y="2136237"/>
                  <a:pt x="0" y="2108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5257800"/>
            <a:ext cx="868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Synthesized Local Stride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5765800"/>
            <a:ext cx="8661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weight's learned local hopping stride over the carrier lattice: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6248400"/>
            <a:ext cx="8559800" cy="762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98500" y="6451600"/>
            <a:ext cx="8686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$\tilde{d}_{g,i} = \sum_{k=1}^{K}\pi_{g,i}^{(k)} \, d_g^{(k)}$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860161" y="1676400"/>
            <a:ext cx="5892800" cy="1905000"/>
          </a:xfrm>
          <a:custGeom>
            <a:avLst/>
            <a:gdLst/>
            <a:ahLst/>
            <a:cxnLst/>
            <a:rect l="l" t="t" r="r" b="b"/>
            <a:pathLst>
              <a:path w="5892800" h="1905000">
                <a:moveTo>
                  <a:pt x="50800" y="0"/>
                </a:moveTo>
                <a:lnTo>
                  <a:pt x="5791200" y="0"/>
                </a:lnTo>
                <a:cubicBezTo>
                  <a:pt x="5847275" y="0"/>
                  <a:pt x="5892800" y="45525"/>
                  <a:pt x="5892800" y="101600"/>
                </a:cubicBezTo>
                <a:lnTo>
                  <a:pt x="5892800" y="1803400"/>
                </a:lnTo>
                <a:cubicBezTo>
                  <a:pt x="5892800" y="1859475"/>
                  <a:pt x="5847275" y="1905000"/>
                  <a:pt x="5791200" y="1905000"/>
                </a:cubicBezTo>
                <a:lnTo>
                  <a:pt x="50800" y="1905000"/>
                </a:lnTo>
                <a:cubicBezTo>
                  <a:pt x="22763" y="1905000"/>
                  <a:pt x="0" y="1882237"/>
                  <a:pt x="0" y="1854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0" name="Shape 18"/>
          <p:cNvSpPr/>
          <p:nvPr/>
        </p:nvSpPr>
        <p:spPr>
          <a:xfrm>
            <a:off x="9860161" y="1676400"/>
            <a:ext cx="50800" cy="1905000"/>
          </a:xfrm>
          <a:custGeom>
            <a:avLst/>
            <a:gdLst/>
            <a:ahLst/>
            <a:cxnLst/>
            <a:rect l="l" t="t" r="r" b="b"/>
            <a:pathLst>
              <a:path w="50800" h="1905000">
                <a:moveTo>
                  <a:pt x="50800" y="0"/>
                </a:moveTo>
                <a:lnTo>
                  <a:pt x="50800" y="0"/>
                </a:lnTo>
                <a:lnTo>
                  <a:pt x="50800" y="1905000"/>
                </a:lnTo>
                <a:lnTo>
                  <a:pt x="50800" y="1905000"/>
                </a:lnTo>
                <a:cubicBezTo>
                  <a:pt x="22763" y="1905000"/>
                  <a:pt x="0" y="1882237"/>
                  <a:pt x="0" y="1854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1" name="Text 19"/>
          <p:cNvSpPr/>
          <p:nvPr/>
        </p:nvSpPr>
        <p:spPr>
          <a:xfrm>
            <a:off x="10088761" y="1879600"/>
            <a:ext cx="558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Speaker Note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88761" y="2387600"/>
            <a:ext cx="55626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model does not hard-assign a weight to one pathway during calibration. Instead, it learns a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F9FAFB"/>
                </a:solidFill>
                <a:highlight>
                  <a:srgbClr val="8B0000">
                    <a:alpha val="10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soft local stride field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over the full family.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834761" y="3784600"/>
            <a:ext cx="5918200" cy="1651000"/>
          </a:xfrm>
          <a:prstGeom prst="roundRect">
            <a:avLst>
              <a:gd name="adj" fmla="val 6154"/>
            </a:avLst>
          </a:pr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10037961" y="3987800"/>
            <a:ext cx="563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One-Line Takeaway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37961" y="4495800"/>
            <a:ext cx="56261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Each weight learns its own local displacement stride from the lattice family.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33400"/>
            <a:ext cx="596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1.3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71761" y="508000"/>
            <a:ext cx="1244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Continuous Relaxation Between Neighboring Lattice Sites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0800" y="1117600"/>
            <a:ext cx="145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Site-relaxation projector determines position between two neighboring sites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625600"/>
            <a:ext cx="7467600" cy="1422400"/>
          </a:xfrm>
          <a:custGeom>
            <a:avLst/>
            <a:gdLst/>
            <a:ahLst/>
            <a:cxnLst/>
            <a:rect l="l" t="t" r="r" b="b"/>
            <a:pathLst>
              <a:path w="7467600" h="1422400">
                <a:moveTo>
                  <a:pt x="50800" y="0"/>
                </a:moveTo>
                <a:lnTo>
                  <a:pt x="7366000" y="0"/>
                </a:lnTo>
                <a:cubicBezTo>
                  <a:pt x="7422075" y="0"/>
                  <a:pt x="7467600" y="45525"/>
                  <a:pt x="7467600" y="101600"/>
                </a:cubicBezTo>
                <a:lnTo>
                  <a:pt x="7467600" y="1320800"/>
                </a:lnTo>
                <a:cubicBezTo>
                  <a:pt x="7467600" y="1376875"/>
                  <a:pt x="7422075" y="1422400"/>
                  <a:pt x="7366000" y="1422400"/>
                </a:cubicBez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62560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5080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828800"/>
            <a:ext cx="715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Step 1: Normalize Carrier Coordinate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286000"/>
            <a:ext cx="7035800" cy="5588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04850" y="2387600"/>
            <a:ext cx="715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$u_{g,i} = \frac{c_{g,i}}{\tilde{d}_{g,i}}$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3400" y="3200400"/>
            <a:ext cx="7467600" cy="1422400"/>
          </a:xfrm>
          <a:custGeom>
            <a:avLst/>
            <a:gdLst/>
            <a:ahLst/>
            <a:cxnLst/>
            <a:rect l="l" t="t" r="r" b="b"/>
            <a:pathLst>
              <a:path w="7467600" h="1422400">
                <a:moveTo>
                  <a:pt x="50800" y="0"/>
                </a:moveTo>
                <a:lnTo>
                  <a:pt x="7366000" y="0"/>
                </a:lnTo>
                <a:cubicBezTo>
                  <a:pt x="7422075" y="0"/>
                  <a:pt x="7467600" y="45525"/>
                  <a:pt x="7467600" y="101600"/>
                </a:cubicBezTo>
                <a:lnTo>
                  <a:pt x="7467600" y="1320800"/>
                </a:lnTo>
                <a:cubicBezTo>
                  <a:pt x="7467600" y="1376875"/>
                  <a:pt x="7422075" y="1422400"/>
                  <a:pt x="7366000" y="1422400"/>
                </a:cubicBez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1" name="Shape 9"/>
          <p:cNvSpPr/>
          <p:nvPr/>
        </p:nvSpPr>
        <p:spPr>
          <a:xfrm>
            <a:off x="533400" y="320040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5080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403600"/>
            <a:ext cx="715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Step 2: Lower Neighboring Site Index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860800"/>
            <a:ext cx="7035800" cy="5588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04850" y="3962400"/>
            <a:ext cx="715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$k_{g,i} = \left\lfloor u_{g,i}\right\rfloor$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3400" y="4775200"/>
            <a:ext cx="7467600" cy="1422400"/>
          </a:xfrm>
          <a:custGeom>
            <a:avLst/>
            <a:gdLst/>
            <a:ahLst/>
            <a:cxnLst/>
            <a:rect l="l" t="t" r="r" b="b"/>
            <a:pathLst>
              <a:path w="7467600" h="1422400">
                <a:moveTo>
                  <a:pt x="50800" y="0"/>
                </a:moveTo>
                <a:lnTo>
                  <a:pt x="7366000" y="0"/>
                </a:lnTo>
                <a:cubicBezTo>
                  <a:pt x="7422075" y="0"/>
                  <a:pt x="7467600" y="45525"/>
                  <a:pt x="7467600" y="101600"/>
                </a:cubicBezTo>
                <a:lnTo>
                  <a:pt x="7467600" y="1320800"/>
                </a:lnTo>
                <a:cubicBezTo>
                  <a:pt x="7467600" y="1376875"/>
                  <a:pt x="7422075" y="1422400"/>
                  <a:pt x="7366000" y="1422400"/>
                </a:cubicBez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6" name="Shape 14"/>
          <p:cNvSpPr/>
          <p:nvPr/>
        </p:nvSpPr>
        <p:spPr>
          <a:xfrm>
            <a:off x="533400" y="477520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5080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4978400"/>
            <a:ext cx="715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Step 3: Site-Relaxation Projector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435600"/>
            <a:ext cx="7035800" cy="5588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04850" y="5537200"/>
            <a:ext cx="715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$p_{g,i} = \sigma(\alpha_{g,i})$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3400" y="6350000"/>
            <a:ext cx="7467600" cy="1422400"/>
          </a:xfrm>
          <a:custGeom>
            <a:avLst/>
            <a:gdLst/>
            <a:ahLst/>
            <a:cxnLst/>
            <a:rect l="l" t="t" r="r" b="b"/>
            <a:pathLst>
              <a:path w="7467600" h="1422400">
                <a:moveTo>
                  <a:pt x="50800" y="0"/>
                </a:moveTo>
                <a:lnTo>
                  <a:pt x="7366000" y="0"/>
                </a:lnTo>
                <a:cubicBezTo>
                  <a:pt x="7422075" y="0"/>
                  <a:pt x="7467600" y="45525"/>
                  <a:pt x="7467600" y="101600"/>
                </a:cubicBezTo>
                <a:lnTo>
                  <a:pt x="7467600" y="1320800"/>
                </a:lnTo>
                <a:cubicBezTo>
                  <a:pt x="7467600" y="1376875"/>
                  <a:pt x="7422075" y="1422400"/>
                  <a:pt x="7366000" y="1422400"/>
                </a:cubicBez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1" name="Shape 19"/>
          <p:cNvSpPr/>
          <p:nvPr/>
        </p:nvSpPr>
        <p:spPr>
          <a:xfrm>
            <a:off x="533400" y="635000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5080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6553200"/>
            <a:ext cx="715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Step 4: Calibrated Coordinate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7010400"/>
            <a:ext cx="7035800" cy="5588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04850" y="7112000"/>
            <a:ext cx="715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$\hat{u}_{g,i} = k_{g,i} + p_{g,i}$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80400" y="1625600"/>
            <a:ext cx="7467600" cy="1676400"/>
          </a:xfrm>
          <a:custGeom>
            <a:avLst/>
            <a:gdLst/>
            <a:ahLst/>
            <a:cxnLst/>
            <a:rect l="l" t="t" r="r" b="b"/>
            <a:pathLst>
              <a:path w="7467600" h="1676400">
                <a:moveTo>
                  <a:pt x="50800" y="0"/>
                </a:moveTo>
                <a:lnTo>
                  <a:pt x="7366000" y="0"/>
                </a:lnTo>
                <a:cubicBezTo>
                  <a:pt x="7422075" y="0"/>
                  <a:pt x="7467600" y="45525"/>
                  <a:pt x="7467600" y="101600"/>
                </a:cubicBezTo>
                <a:lnTo>
                  <a:pt x="7467600" y="1574800"/>
                </a:lnTo>
                <a:cubicBezTo>
                  <a:pt x="7467600" y="1630875"/>
                  <a:pt x="7422075" y="1676400"/>
                  <a:pt x="7366000" y="1676400"/>
                </a:cubicBezTo>
                <a:lnTo>
                  <a:pt x="50800" y="1676400"/>
                </a:lnTo>
                <a:cubicBezTo>
                  <a:pt x="22763" y="1676400"/>
                  <a:pt x="0" y="1653637"/>
                  <a:pt x="0" y="162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6" name="Shape 24"/>
          <p:cNvSpPr/>
          <p:nvPr/>
        </p:nvSpPr>
        <p:spPr>
          <a:xfrm>
            <a:off x="8280400" y="1625600"/>
            <a:ext cx="50800" cy="1676400"/>
          </a:xfrm>
          <a:custGeom>
            <a:avLst/>
            <a:gdLst/>
            <a:ahLst/>
            <a:cxnLst/>
            <a:rect l="l" t="t" r="r" b="b"/>
            <a:pathLst>
              <a:path w="50800" h="1676400">
                <a:moveTo>
                  <a:pt x="50800" y="0"/>
                </a:moveTo>
                <a:lnTo>
                  <a:pt x="50800" y="0"/>
                </a:lnTo>
                <a:lnTo>
                  <a:pt x="50800" y="1676400"/>
                </a:lnTo>
                <a:lnTo>
                  <a:pt x="50800" y="1676400"/>
                </a:lnTo>
                <a:cubicBezTo>
                  <a:pt x="22763" y="1676400"/>
                  <a:pt x="0" y="1653637"/>
                  <a:pt x="0" y="162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8509000" y="1828800"/>
            <a:ext cx="715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Reconstructed Carrier Coordinate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09000" y="2286000"/>
            <a:ext cx="7035800" cy="812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8458200" y="2387600"/>
            <a:ext cx="7137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$\hat{c}_{g,i} = \tilde{d}_{g,i}\left(\left\lfloor \frac{c_{g,i}}{\tilde{d}_{g,i}}\right\rfloor+\sigma(\alpha_{g,i})\right)$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80400" y="3454400"/>
            <a:ext cx="7467600" cy="1422400"/>
          </a:xfrm>
          <a:custGeom>
            <a:avLst/>
            <a:gdLst/>
            <a:ahLst/>
            <a:cxnLst/>
            <a:rect l="l" t="t" r="r" b="b"/>
            <a:pathLst>
              <a:path w="7467600" h="1422400">
                <a:moveTo>
                  <a:pt x="50800" y="0"/>
                </a:moveTo>
                <a:lnTo>
                  <a:pt x="7366000" y="0"/>
                </a:lnTo>
                <a:cubicBezTo>
                  <a:pt x="7422075" y="0"/>
                  <a:pt x="7467600" y="45525"/>
                  <a:pt x="7467600" y="101600"/>
                </a:cubicBezTo>
                <a:lnTo>
                  <a:pt x="7467600" y="1320800"/>
                </a:lnTo>
                <a:cubicBezTo>
                  <a:pt x="7467600" y="1376875"/>
                  <a:pt x="7422075" y="1422400"/>
                  <a:pt x="7366000" y="1422400"/>
                </a:cubicBez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1" name="Shape 29"/>
          <p:cNvSpPr/>
          <p:nvPr/>
        </p:nvSpPr>
        <p:spPr>
          <a:xfrm>
            <a:off x="8280400" y="345440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5080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8509000" y="3657600"/>
            <a:ext cx="715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Recovered Quantized Weight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09000" y="4114800"/>
            <a:ext cx="7035800" cy="5588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8451850" y="4216400"/>
            <a:ext cx="715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$\hat{w}_{g,i} = s_g\,\hat{c}_{g,i}$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80400" y="5029200"/>
            <a:ext cx="7467600" cy="1524000"/>
          </a:xfrm>
          <a:custGeom>
            <a:avLst/>
            <a:gdLst/>
            <a:ahLst/>
            <a:cxnLst/>
            <a:rect l="l" t="t" r="r" b="b"/>
            <a:pathLst>
              <a:path w="7467600" h="1524000">
                <a:moveTo>
                  <a:pt x="50800" y="0"/>
                </a:moveTo>
                <a:lnTo>
                  <a:pt x="7366000" y="0"/>
                </a:lnTo>
                <a:cubicBezTo>
                  <a:pt x="7422075" y="0"/>
                  <a:pt x="7467600" y="45525"/>
                  <a:pt x="7467600" y="101600"/>
                </a:cubicBezTo>
                <a:lnTo>
                  <a:pt x="7467600" y="1422400"/>
                </a:lnTo>
                <a:cubicBezTo>
                  <a:pt x="7467600" y="1478475"/>
                  <a:pt x="7422075" y="1524000"/>
                  <a:pt x="7366000" y="1524000"/>
                </a:cubicBezTo>
                <a:lnTo>
                  <a:pt x="50800" y="1524000"/>
                </a:lnTo>
                <a:cubicBezTo>
                  <a:pt x="22763" y="1524000"/>
                  <a:pt x="0" y="1501237"/>
                  <a:pt x="0" y="147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6" name="Shape 34"/>
          <p:cNvSpPr/>
          <p:nvPr/>
        </p:nvSpPr>
        <p:spPr>
          <a:xfrm>
            <a:off x="8280400" y="5029200"/>
            <a:ext cx="50800" cy="1524000"/>
          </a:xfrm>
          <a:custGeom>
            <a:avLst/>
            <a:gdLst/>
            <a:ahLst/>
            <a:cxnLst/>
            <a:rect l="l" t="t" r="r" b="b"/>
            <a:pathLst>
              <a:path w="50800" h="1524000">
                <a:moveTo>
                  <a:pt x="50800" y="0"/>
                </a:moveTo>
                <a:lnTo>
                  <a:pt x="50800" y="0"/>
                </a:lnTo>
                <a:lnTo>
                  <a:pt x="50800" y="1524000"/>
                </a:lnTo>
                <a:lnTo>
                  <a:pt x="50800" y="1524000"/>
                </a:lnTo>
                <a:cubicBezTo>
                  <a:pt x="22763" y="1524000"/>
                  <a:pt x="0" y="1501237"/>
                  <a:pt x="0" y="147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7" name="Text 35"/>
          <p:cNvSpPr/>
          <p:nvPr/>
        </p:nvSpPr>
        <p:spPr>
          <a:xfrm>
            <a:off x="8509000" y="5232400"/>
            <a:ext cx="715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Mechanism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09000" y="5689600"/>
            <a:ext cx="7137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F9FAFB"/>
                </a:solidFill>
                <a:highlight>
                  <a:srgbClr val="8B0000">
                    <a:alpha val="10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stride field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chooses the pathway; the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F9FAFB"/>
                </a:solidFill>
                <a:highlight>
                  <a:srgbClr val="8B0000">
                    <a:alpha val="10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relaxation projector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chooses the local occupied position between two neighboring sites.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55000" y="6705600"/>
            <a:ext cx="7493000" cy="1524000"/>
          </a:xfrm>
          <a:prstGeom prst="roundRect">
            <a:avLst>
              <a:gd name="adj" fmla="val 6667"/>
            </a:avLst>
          </a:prstGeom>
          <a:solidFill>
            <a:srgbClr val="8B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8458200" y="6908800"/>
            <a:ext cx="7200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One-Line Takeaway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458200" y="7366000"/>
            <a:ext cx="7188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stride field chooses the pathway; the relaxation projector chooses the local occupied position between two neighboring sites.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33400"/>
            <a:ext cx="63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1.4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09861" y="508000"/>
            <a:ext cx="10528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Unified Stride-Relaxation Quantization Operator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0800" y="1117600"/>
            <a:ext cx="145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One deployable quantizer learned through two coupled fields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625600"/>
            <a:ext cx="15214600" cy="2413000"/>
          </a:xfrm>
          <a:custGeom>
            <a:avLst/>
            <a:gdLst/>
            <a:ahLst/>
            <a:cxnLst/>
            <a:rect l="l" t="t" r="r" b="b"/>
            <a:pathLst>
              <a:path w="15214600" h="2413000">
                <a:moveTo>
                  <a:pt x="50800" y="0"/>
                </a:moveTo>
                <a:lnTo>
                  <a:pt x="15113000" y="0"/>
                </a:lnTo>
                <a:cubicBezTo>
                  <a:pt x="15169075" y="0"/>
                  <a:pt x="15214600" y="45525"/>
                  <a:pt x="15214600" y="101600"/>
                </a:cubicBezTo>
                <a:lnTo>
                  <a:pt x="15214600" y="2311400"/>
                </a:lnTo>
                <a:cubicBezTo>
                  <a:pt x="15214600" y="2367475"/>
                  <a:pt x="15169075" y="2413000"/>
                  <a:pt x="15113000" y="2413000"/>
                </a:cubicBezTo>
                <a:lnTo>
                  <a:pt x="50800" y="2413000"/>
                </a:lnTo>
                <a:cubicBezTo>
                  <a:pt x="22763" y="2413000"/>
                  <a:pt x="0" y="2390237"/>
                  <a:pt x="0" y="2362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625600"/>
            <a:ext cx="50800" cy="2413000"/>
          </a:xfrm>
          <a:custGeom>
            <a:avLst/>
            <a:gdLst/>
            <a:ahLst/>
            <a:cxnLst/>
            <a:rect l="l" t="t" r="r" b="b"/>
            <a:pathLst>
              <a:path w="50800" h="2413000">
                <a:moveTo>
                  <a:pt x="50800" y="0"/>
                </a:moveTo>
                <a:lnTo>
                  <a:pt x="50800" y="0"/>
                </a:lnTo>
                <a:lnTo>
                  <a:pt x="50800" y="2413000"/>
                </a:lnTo>
                <a:lnTo>
                  <a:pt x="50800" y="2413000"/>
                </a:lnTo>
                <a:cubicBezTo>
                  <a:pt x="22763" y="2413000"/>
                  <a:pt x="0" y="2390237"/>
                  <a:pt x="0" y="2362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828800"/>
            <a:ext cx="1490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Complete Quantizer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336800"/>
            <a:ext cx="1488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Combining family-level stride synthesis and local site relaxation gives one quantizer: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819400"/>
            <a:ext cx="14782800" cy="101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11200" y="3022600"/>
            <a:ext cx="1488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$Q(w_{g,i}; s_g, \alpha_{g,i}, \gamma_{g,i}^{(1:K)}) = s_g \left(\sum_{k=1}^{K}\pi_{g,i}^{(k)}d_g^{(k)}\right)\left(\left\lfloor\frac{w_{g,i}/s_g}{\sum_{k=1}^{K}\pi_{g,i}^{(k)}d_g^{(k)}}\right\rfloor+\sigma(\alpha_{g,i})\right)$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400" y="4241800"/>
            <a:ext cx="7493000" cy="1714500"/>
          </a:xfrm>
          <a:custGeom>
            <a:avLst/>
            <a:gdLst/>
            <a:ahLst/>
            <a:cxnLst/>
            <a:rect l="l" t="t" r="r" b="b"/>
            <a:pathLst>
              <a:path w="7493000" h="1714500">
                <a:moveTo>
                  <a:pt x="50800" y="0"/>
                </a:moveTo>
                <a:lnTo>
                  <a:pt x="7391400" y="0"/>
                </a:lnTo>
                <a:cubicBezTo>
                  <a:pt x="7447475" y="0"/>
                  <a:pt x="7493000" y="45525"/>
                  <a:pt x="7493000" y="101600"/>
                </a:cubicBezTo>
                <a:lnTo>
                  <a:pt x="7493000" y="1612900"/>
                </a:lnTo>
                <a:cubicBezTo>
                  <a:pt x="7493000" y="1668975"/>
                  <a:pt x="7447475" y="1714500"/>
                  <a:pt x="7391400" y="1714500"/>
                </a:cubicBezTo>
                <a:lnTo>
                  <a:pt x="50800" y="1714500"/>
                </a:lnTo>
                <a:cubicBezTo>
                  <a:pt x="22763" y="1714500"/>
                  <a:pt x="0" y="1691737"/>
                  <a:pt x="0" y="1663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2" name="Shape 10"/>
          <p:cNvSpPr/>
          <p:nvPr/>
        </p:nvSpPr>
        <p:spPr>
          <a:xfrm>
            <a:off x="533400" y="4241800"/>
            <a:ext cx="50800" cy="1714500"/>
          </a:xfrm>
          <a:custGeom>
            <a:avLst/>
            <a:gdLst/>
            <a:ahLst/>
            <a:cxnLst/>
            <a:rect l="l" t="t" r="r" b="b"/>
            <a:pathLst>
              <a:path w="50800" h="1714500">
                <a:moveTo>
                  <a:pt x="50800" y="0"/>
                </a:moveTo>
                <a:lnTo>
                  <a:pt x="50800" y="0"/>
                </a:lnTo>
                <a:lnTo>
                  <a:pt x="50800" y="1714500"/>
                </a:lnTo>
                <a:lnTo>
                  <a:pt x="50800" y="1714500"/>
                </a:lnTo>
                <a:cubicBezTo>
                  <a:pt x="22763" y="1714500"/>
                  <a:pt x="0" y="1691737"/>
                  <a:pt x="0" y="1663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4445000"/>
            <a:ext cx="718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Tensor Form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953000"/>
            <a:ext cx="7061200" cy="80010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5156200"/>
            <a:ext cx="72136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$\hat{W} = Q(W; S, \Alpha, \Gamma)$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55000" y="4241800"/>
            <a:ext cx="7493000" cy="1714500"/>
          </a:xfrm>
          <a:custGeom>
            <a:avLst/>
            <a:gdLst/>
            <a:ahLst/>
            <a:cxnLst/>
            <a:rect l="l" t="t" r="r" b="b"/>
            <a:pathLst>
              <a:path w="7493000" h="1714500">
                <a:moveTo>
                  <a:pt x="50800" y="0"/>
                </a:moveTo>
                <a:lnTo>
                  <a:pt x="7391400" y="0"/>
                </a:lnTo>
                <a:cubicBezTo>
                  <a:pt x="7447475" y="0"/>
                  <a:pt x="7493000" y="45525"/>
                  <a:pt x="7493000" y="101600"/>
                </a:cubicBezTo>
                <a:lnTo>
                  <a:pt x="7493000" y="1612900"/>
                </a:lnTo>
                <a:cubicBezTo>
                  <a:pt x="7493000" y="1668975"/>
                  <a:pt x="7447475" y="1714500"/>
                  <a:pt x="7391400" y="1714500"/>
                </a:cubicBezTo>
                <a:lnTo>
                  <a:pt x="50800" y="1714500"/>
                </a:lnTo>
                <a:cubicBezTo>
                  <a:pt x="22763" y="1714500"/>
                  <a:pt x="0" y="1691737"/>
                  <a:pt x="0" y="1663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8255000" y="4241800"/>
            <a:ext cx="50800" cy="1714500"/>
          </a:xfrm>
          <a:custGeom>
            <a:avLst/>
            <a:gdLst/>
            <a:ahLst/>
            <a:cxnLst/>
            <a:rect l="l" t="t" r="r" b="b"/>
            <a:pathLst>
              <a:path w="50800" h="1714500">
                <a:moveTo>
                  <a:pt x="50800" y="0"/>
                </a:moveTo>
                <a:lnTo>
                  <a:pt x="50800" y="0"/>
                </a:lnTo>
                <a:lnTo>
                  <a:pt x="50800" y="1714500"/>
                </a:lnTo>
                <a:lnTo>
                  <a:pt x="50800" y="1714500"/>
                </a:lnTo>
                <a:cubicBezTo>
                  <a:pt x="22763" y="1714500"/>
                  <a:pt x="0" y="1691737"/>
                  <a:pt x="0" y="1663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18" name="Text 16"/>
          <p:cNvSpPr/>
          <p:nvPr/>
        </p:nvSpPr>
        <p:spPr>
          <a:xfrm>
            <a:off x="8483600" y="4445000"/>
            <a:ext cx="718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Speaker Note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83600" y="4953000"/>
            <a:ext cx="7162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This is one deployable quantizer learned through two coupled fields: a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F9FAFB"/>
                </a:solidFill>
                <a:highlight>
                  <a:srgbClr val="8B0000">
                    <a:alpha val="10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stride field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over the lattice family and a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F9FAFB"/>
                </a:solidFill>
                <a:highlight>
                  <a:srgbClr val="8B0000">
                    <a:alpha val="10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local site-relaxation field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8000" y="6159500"/>
            <a:ext cx="15240000" cy="1282700"/>
          </a:xfrm>
          <a:prstGeom prst="roundRect">
            <a:avLst>
              <a:gd name="adj" fmla="val 7921"/>
            </a:avLst>
          </a:prstGeom>
          <a:solidFill>
            <a:srgbClr val="8B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711200" y="6362700"/>
            <a:ext cx="1496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One-Line Takeaway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1200" y="6870700"/>
            <a:ext cx="149479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invention is best viewed as a single stride-relaxation quantizer, not a menu of deployable precisions.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33400"/>
            <a:ext cx="622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96169" y="508000"/>
            <a:ext cx="10591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Single Reconstruction-Driven Calibration Energy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0800" y="1117600"/>
            <a:ext cx="145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Block-wise, post-training, with frozen pretrained weights using unlabeled data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676400"/>
            <a:ext cx="4914900" cy="2133600"/>
          </a:xfrm>
          <a:custGeom>
            <a:avLst/>
            <a:gdLst/>
            <a:ahLst/>
            <a:cxnLst/>
            <a:rect l="l" t="t" r="r" b="b"/>
            <a:pathLst>
              <a:path w="4914900" h="2133600">
                <a:moveTo>
                  <a:pt x="50800" y="0"/>
                </a:moveTo>
                <a:lnTo>
                  <a:pt x="4813300" y="0"/>
                </a:lnTo>
                <a:cubicBezTo>
                  <a:pt x="4869375" y="0"/>
                  <a:pt x="4914900" y="45525"/>
                  <a:pt x="4914900" y="101600"/>
                </a:cubicBezTo>
                <a:lnTo>
                  <a:pt x="4914900" y="2032000"/>
                </a:lnTo>
                <a:cubicBezTo>
                  <a:pt x="4914900" y="2088075"/>
                  <a:pt x="4869375" y="2133600"/>
                  <a:pt x="4813300" y="2133600"/>
                </a:cubicBezTo>
                <a:lnTo>
                  <a:pt x="50800" y="2133600"/>
                </a:lnTo>
                <a:cubicBezTo>
                  <a:pt x="22763" y="2133600"/>
                  <a:pt x="0" y="2110837"/>
                  <a:pt x="0" y="208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676400"/>
            <a:ext cx="50800" cy="2133600"/>
          </a:xfrm>
          <a:custGeom>
            <a:avLst/>
            <a:gdLst/>
            <a:ahLst/>
            <a:cxnLst/>
            <a:rect l="l" t="t" r="r" b="b"/>
            <a:pathLst>
              <a:path w="50800" h="2133600">
                <a:moveTo>
                  <a:pt x="50800" y="0"/>
                </a:moveTo>
                <a:lnTo>
                  <a:pt x="50800" y="0"/>
                </a:lnTo>
                <a:lnTo>
                  <a:pt x="50800" y="2133600"/>
                </a:lnTo>
                <a:lnTo>
                  <a:pt x="50800" y="2133600"/>
                </a:lnTo>
                <a:cubicBezTo>
                  <a:pt x="22763" y="2133600"/>
                  <a:pt x="0" y="2110837"/>
                  <a:pt x="0" y="208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879600"/>
            <a:ext cx="459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Main Reconstruction Loss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387600"/>
            <a:ext cx="4483100" cy="1219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11200" y="2540000"/>
            <a:ext cx="4584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$\mathcal{L}_{\mathrm{rec}} = \sum_{b\in\mathcal{B}}\left\|f_b(X;W)-f_b(X;\hat{W})\right\|_{\Omega_b}^{2}$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3400" y="4013200"/>
            <a:ext cx="4914900" cy="1828800"/>
          </a:xfrm>
          <a:custGeom>
            <a:avLst/>
            <a:gdLst/>
            <a:ahLst/>
            <a:cxnLst/>
            <a:rect l="l" t="t" r="r" b="b"/>
            <a:pathLst>
              <a:path w="4914900" h="1828800">
                <a:moveTo>
                  <a:pt x="50800" y="0"/>
                </a:moveTo>
                <a:lnTo>
                  <a:pt x="4813300" y="0"/>
                </a:lnTo>
                <a:cubicBezTo>
                  <a:pt x="4869375" y="0"/>
                  <a:pt x="4914900" y="45525"/>
                  <a:pt x="4914900" y="101600"/>
                </a:cubicBezTo>
                <a:lnTo>
                  <a:pt x="4914900" y="1727200"/>
                </a:lnTo>
                <a:cubicBezTo>
                  <a:pt x="4914900" y="1783275"/>
                  <a:pt x="4869375" y="1828800"/>
                  <a:pt x="4813300" y="1828800"/>
                </a:cubicBez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1" name="Shape 9"/>
          <p:cNvSpPr/>
          <p:nvPr/>
        </p:nvSpPr>
        <p:spPr>
          <a:xfrm>
            <a:off x="533400" y="4013200"/>
            <a:ext cx="50800" cy="1828800"/>
          </a:xfrm>
          <a:custGeom>
            <a:avLst/>
            <a:gdLst/>
            <a:ahLst/>
            <a:cxnLst/>
            <a:rect l="l" t="t" r="r" b="b"/>
            <a:pathLst>
              <a:path w="50800" h="1828800">
                <a:moveTo>
                  <a:pt x="50800" y="0"/>
                </a:moveTo>
                <a:lnTo>
                  <a:pt x="50800" y="0"/>
                </a:lnTo>
                <a:lnTo>
                  <a:pt x="50800" y="1828800"/>
                </a:ln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4216400"/>
            <a:ext cx="459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Weighted Norm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724400"/>
            <a:ext cx="4483100" cy="9144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11200" y="4876800"/>
            <a:ext cx="4584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$\|Y\|_{\Omega}^{2} = \operatorname{tr}(Y^\top \Omega Y)$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81067" y="1676400"/>
            <a:ext cx="4914900" cy="2133600"/>
          </a:xfrm>
          <a:custGeom>
            <a:avLst/>
            <a:gdLst/>
            <a:ahLst/>
            <a:cxnLst/>
            <a:rect l="l" t="t" r="r" b="b"/>
            <a:pathLst>
              <a:path w="4914900" h="2133600">
                <a:moveTo>
                  <a:pt x="50800" y="0"/>
                </a:moveTo>
                <a:lnTo>
                  <a:pt x="4813300" y="0"/>
                </a:lnTo>
                <a:cubicBezTo>
                  <a:pt x="4869375" y="0"/>
                  <a:pt x="4914900" y="45525"/>
                  <a:pt x="4914900" y="101600"/>
                </a:cubicBezTo>
                <a:lnTo>
                  <a:pt x="4914900" y="2032000"/>
                </a:lnTo>
                <a:cubicBezTo>
                  <a:pt x="4914900" y="2088075"/>
                  <a:pt x="4869375" y="2133600"/>
                  <a:pt x="4813300" y="2133600"/>
                </a:cubicBezTo>
                <a:lnTo>
                  <a:pt x="50800" y="2133600"/>
                </a:lnTo>
                <a:cubicBezTo>
                  <a:pt x="22763" y="2133600"/>
                  <a:pt x="0" y="2110837"/>
                  <a:pt x="0" y="208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6" name="Shape 14"/>
          <p:cNvSpPr/>
          <p:nvPr/>
        </p:nvSpPr>
        <p:spPr>
          <a:xfrm>
            <a:off x="5681067" y="1676400"/>
            <a:ext cx="50800" cy="2133600"/>
          </a:xfrm>
          <a:custGeom>
            <a:avLst/>
            <a:gdLst/>
            <a:ahLst/>
            <a:cxnLst/>
            <a:rect l="l" t="t" r="r" b="b"/>
            <a:pathLst>
              <a:path w="50800" h="2133600">
                <a:moveTo>
                  <a:pt x="50800" y="0"/>
                </a:moveTo>
                <a:lnTo>
                  <a:pt x="50800" y="0"/>
                </a:lnTo>
                <a:lnTo>
                  <a:pt x="50800" y="2133600"/>
                </a:lnTo>
                <a:lnTo>
                  <a:pt x="50800" y="2133600"/>
                </a:lnTo>
                <a:cubicBezTo>
                  <a:pt x="22763" y="2133600"/>
                  <a:pt x="0" y="2110837"/>
                  <a:pt x="0" y="208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909667" y="1879600"/>
            <a:ext cx="459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Site-Sharpening Regularizer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09667" y="2387600"/>
            <a:ext cx="4483100" cy="1219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858867" y="2540000"/>
            <a:ext cx="4584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$\mathcal{L}_{\alpha} = \lambda_{\alpha}\sum_{g,i}\sigma(\alpha_{g,i})(1-\sigma(\alpha_{g,i}))$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81067" y="4013200"/>
            <a:ext cx="4914900" cy="2133600"/>
          </a:xfrm>
          <a:custGeom>
            <a:avLst/>
            <a:gdLst/>
            <a:ahLst/>
            <a:cxnLst/>
            <a:rect l="l" t="t" r="r" b="b"/>
            <a:pathLst>
              <a:path w="4914900" h="2133600">
                <a:moveTo>
                  <a:pt x="50800" y="0"/>
                </a:moveTo>
                <a:lnTo>
                  <a:pt x="4813300" y="0"/>
                </a:lnTo>
                <a:cubicBezTo>
                  <a:pt x="4869375" y="0"/>
                  <a:pt x="4914900" y="45525"/>
                  <a:pt x="4914900" y="101600"/>
                </a:cubicBezTo>
                <a:lnTo>
                  <a:pt x="4914900" y="2032000"/>
                </a:lnTo>
                <a:cubicBezTo>
                  <a:pt x="4914900" y="2088075"/>
                  <a:pt x="4869375" y="2133600"/>
                  <a:pt x="4813300" y="2133600"/>
                </a:cubicBezTo>
                <a:lnTo>
                  <a:pt x="50800" y="2133600"/>
                </a:lnTo>
                <a:cubicBezTo>
                  <a:pt x="22763" y="2133600"/>
                  <a:pt x="0" y="2110837"/>
                  <a:pt x="0" y="208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1" name="Shape 19"/>
          <p:cNvSpPr/>
          <p:nvPr/>
        </p:nvSpPr>
        <p:spPr>
          <a:xfrm>
            <a:off x="5681067" y="4013200"/>
            <a:ext cx="50800" cy="2133600"/>
          </a:xfrm>
          <a:custGeom>
            <a:avLst/>
            <a:gdLst/>
            <a:ahLst/>
            <a:cxnLst/>
            <a:rect l="l" t="t" r="r" b="b"/>
            <a:pathLst>
              <a:path w="50800" h="2133600">
                <a:moveTo>
                  <a:pt x="50800" y="0"/>
                </a:moveTo>
                <a:lnTo>
                  <a:pt x="50800" y="0"/>
                </a:lnTo>
                <a:lnTo>
                  <a:pt x="50800" y="2133600"/>
                </a:lnTo>
                <a:lnTo>
                  <a:pt x="50800" y="2133600"/>
                </a:lnTo>
                <a:cubicBezTo>
                  <a:pt x="22763" y="2133600"/>
                  <a:pt x="0" y="2110837"/>
                  <a:pt x="0" y="208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5909667" y="4216400"/>
            <a:ext cx="459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Stride-Field Sharpening Regularizer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09667" y="4724400"/>
            <a:ext cx="4483100" cy="12192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858867" y="4876800"/>
            <a:ext cx="45847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$\mathcal{L}_{\Gamma} = \lambda_{\Gamma}\sum_{g,i}\sum_{k=1}^{K}\pi_{g,i}^{(k)}\bigl(1-\pi_{g,i}^{(k)}\bigr)$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803334" y="1676400"/>
            <a:ext cx="4940300" cy="3048000"/>
          </a:xfrm>
          <a:prstGeom prst="roundRect">
            <a:avLst>
              <a:gd name="adj" fmla="val 3333"/>
            </a:avLst>
          </a:prstGeom>
          <a:solidFill>
            <a:srgbClr val="8B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11057334" y="1930400"/>
            <a:ext cx="4559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Total Energy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057334" y="2489200"/>
            <a:ext cx="4432300" cy="1981200"/>
          </a:xfrm>
          <a:prstGeom prst="roundRect">
            <a:avLst>
              <a:gd name="adj" fmla="val 5128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0981134" y="2692400"/>
            <a:ext cx="4584700" cy="157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$\mathcal{E} = \mathcal{L}_{\mathrm{rec}} + \mathcal{L}_{\alpha} + \mathcal{L}_{\Gamma}$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828734" y="4927600"/>
            <a:ext cx="4914900" cy="2032000"/>
          </a:xfrm>
          <a:custGeom>
            <a:avLst/>
            <a:gdLst/>
            <a:ahLst/>
            <a:cxnLst/>
            <a:rect l="l" t="t" r="r" b="b"/>
            <a:pathLst>
              <a:path w="4914900" h="2032000">
                <a:moveTo>
                  <a:pt x="50800" y="0"/>
                </a:moveTo>
                <a:lnTo>
                  <a:pt x="4813300" y="0"/>
                </a:lnTo>
                <a:cubicBezTo>
                  <a:pt x="4869375" y="0"/>
                  <a:pt x="4914900" y="45525"/>
                  <a:pt x="4914900" y="101600"/>
                </a:cubicBezTo>
                <a:lnTo>
                  <a:pt x="4914900" y="1930400"/>
                </a:lnTo>
                <a:cubicBezTo>
                  <a:pt x="4914900" y="1986475"/>
                  <a:pt x="4869375" y="2032000"/>
                  <a:pt x="4813300" y="2032000"/>
                </a:cubicBezTo>
                <a:lnTo>
                  <a:pt x="50800" y="2032000"/>
                </a:lnTo>
                <a:cubicBezTo>
                  <a:pt x="22763" y="2032000"/>
                  <a:pt x="0" y="2009237"/>
                  <a:pt x="0" y="198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0" name="Shape 28"/>
          <p:cNvSpPr/>
          <p:nvPr/>
        </p:nvSpPr>
        <p:spPr>
          <a:xfrm>
            <a:off x="10828734" y="4927600"/>
            <a:ext cx="50800" cy="2032000"/>
          </a:xfrm>
          <a:custGeom>
            <a:avLst/>
            <a:gdLst/>
            <a:ahLst/>
            <a:cxnLst/>
            <a:rect l="l" t="t" r="r" b="b"/>
            <a:pathLst>
              <a:path w="50800" h="2032000">
                <a:moveTo>
                  <a:pt x="50800" y="0"/>
                </a:moveTo>
                <a:lnTo>
                  <a:pt x="50800" y="0"/>
                </a:lnTo>
                <a:lnTo>
                  <a:pt x="50800" y="2032000"/>
                </a:lnTo>
                <a:lnTo>
                  <a:pt x="50800" y="2032000"/>
                </a:lnTo>
                <a:cubicBezTo>
                  <a:pt x="22763" y="2032000"/>
                  <a:pt x="0" y="2009237"/>
                  <a:pt x="0" y="198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1" name="Text 29"/>
          <p:cNvSpPr/>
          <p:nvPr/>
        </p:nvSpPr>
        <p:spPr>
          <a:xfrm>
            <a:off x="11057334" y="5130800"/>
            <a:ext cx="459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Optimization Components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1057334" y="57150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11311334" y="5638800"/>
            <a:ext cx="209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Reconstruction fidelity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057334" y="61214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11311334" y="6045200"/>
            <a:ext cx="1536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Site stabilization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057334" y="65278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11311334" y="6451600"/>
            <a:ext cx="2463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Stride selection sharpening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08000" y="7162800"/>
            <a:ext cx="15240000" cy="1193800"/>
          </a:xfrm>
          <a:prstGeom prst="roundRect">
            <a:avLst>
              <a:gd name="adj" fmla="val 8511"/>
            </a:avLst>
          </a:prstGeom>
          <a:solidFill>
            <a:srgbClr val="8B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711200" y="7366000"/>
            <a:ext cx="1494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One-Line Takeaway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1200" y="7823200"/>
            <a:ext cx="14935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Both the local hopping stride and the local site occupancy are learned under one post-training reconstruction objective.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33400"/>
            <a:ext cx="67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44786" y="508000"/>
            <a:ext cx="9245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Partition-Conditioned Pathway Calibration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0800" y="1117600"/>
            <a:ext cx="145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Each lattice pathway is shaped by the weights that prefer it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676400"/>
            <a:ext cx="7442200" cy="2413000"/>
          </a:xfrm>
          <a:custGeom>
            <a:avLst/>
            <a:gdLst/>
            <a:ahLst/>
            <a:cxnLst/>
            <a:rect l="l" t="t" r="r" b="b"/>
            <a:pathLst>
              <a:path w="7442200" h="24130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2311400"/>
                </a:lnTo>
                <a:cubicBezTo>
                  <a:pt x="7442200" y="2367475"/>
                  <a:pt x="7396675" y="2413000"/>
                  <a:pt x="7340600" y="2413000"/>
                </a:cubicBezTo>
                <a:lnTo>
                  <a:pt x="50800" y="2413000"/>
                </a:lnTo>
                <a:cubicBezTo>
                  <a:pt x="22763" y="2413000"/>
                  <a:pt x="0" y="2390237"/>
                  <a:pt x="0" y="2362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676400"/>
            <a:ext cx="50800" cy="2413000"/>
          </a:xfrm>
          <a:custGeom>
            <a:avLst/>
            <a:gdLst/>
            <a:ahLst/>
            <a:cxnLst/>
            <a:rect l="l" t="t" r="r" b="b"/>
            <a:pathLst>
              <a:path w="50800" h="2413000">
                <a:moveTo>
                  <a:pt x="50800" y="0"/>
                </a:moveTo>
                <a:lnTo>
                  <a:pt x="50800" y="0"/>
                </a:lnTo>
                <a:lnTo>
                  <a:pt x="50800" y="2413000"/>
                </a:lnTo>
                <a:lnTo>
                  <a:pt x="50800" y="2413000"/>
                </a:lnTo>
                <a:cubicBezTo>
                  <a:pt x="22763" y="2413000"/>
                  <a:pt x="0" y="2390237"/>
                  <a:pt x="0" y="2362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8796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Pathway-Specific Relaxed Reconstruction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387600"/>
            <a:ext cx="711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For lattice pathway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define: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870200"/>
            <a:ext cx="7010400" cy="101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04850" y="3022600"/>
            <a:ext cx="71247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$q_{g,i}^{(k)} = d_g^{(k)}\left(\left\lfloor \frac{c_{g,i}}{d_g^{(k)}}\right\rfloor+\sigma(\alpha_{g,i})\right)$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400" y="4292600"/>
            <a:ext cx="7442200" cy="2311400"/>
          </a:xfrm>
          <a:custGeom>
            <a:avLst/>
            <a:gdLst/>
            <a:ahLst/>
            <a:cxnLst/>
            <a:rect l="l" t="t" r="r" b="b"/>
            <a:pathLst>
              <a:path w="7442200" h="23114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2209800"/>
                </a:lnTo>
                <a:cubicBezTo>
                  <a:pt x="7442200" y="2265875"/>
                  <a:pt x="7396675" y="2311400"/>
                  <a:pt x="7340600" y="2311400"/>
                </a:cubicBezTo>
                <a:lnTo>
                  <a:pt x="50800" y="2311400"/>
                </a:lnTo>
                <a:cubicBezTo>
                  <a:pt x="22763" y="2311400"/>
                  <a:pt x="0" y="2288637"/>
                  <a:pt x="0" y="2260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2" name="Shape 10"/>
          <p:cNvSpPr/>
          <p:nvPr/>
        </p:nvSpPr>
        <p:spPr>
          <a:xfrm>
            <a:off x="533400" y="4292600"/>
            <a:ext cx="50800" cy="2311400"/>
          </a:xfrm>
          <a:custGeom>
            <a:avLst/>
            <a:gdLst/>
            <a:ahLst/>
            <a:cxnLst/>
            <a:rect l="l" t="t" r="r" b="b"/>
            <a:pathLst>
              <a:path w="50800" h="2311400">
                <a:moveTo>
                  <a:pt x="50800" y="0"/>
                </a:moveTo>
                <a:lnTo>
                  <a:pt x="50800" y="0"/>
                </a:lnTo>
                <a:lnTo>
                  <a:pt x="50800" y="2311400"/>
                </a:lnTo>
                <a:lnTo>
                  <a:pt x="50800" y="2311400"/>
                </a:lnTo>
                <a:cubicBezTo>
                  <a:pt x="22763" y="2311400"/>
                  <a:pt x="0" y="2288637"/>
                  <a:pt x="0" y="2260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44958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Pathway Contribution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5003800"/>
            <a:ext cx="711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contribution of pathway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486400"/>
            <a:ext cx="7010400" cy="9144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11200" y="5638800"/>
            <a:ext cx="711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$\mathcal{E}_{g}^{(k)} = \sum_i \pi_{g,i}^{(k)}\,\omega_{g,i}\left(c_{g,i}-q_{g,i}^{(k)}\right)^2$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3400" y="6807200"/>
            <a:ext cx="7442200" cy="1574800"/>
          </a:xfrm>
          <a:custGeom>
            <a:avLst/>
            <a:gdLst/>
            <a:ahLst/>
            <a:cxnLst/>
            <a:rect l="l" t="t" r="r" b="b"/>
            <a:pathLst>
              <a:path w="7442200" h="15748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1473200"/>
                </a:lnTo>
                <a:cubicBezTo>
                  <a:pt x="7442200" y="1529275"/>
                  <a:pt x="7396675" y="1574800"/>
                  <a:pt x="7340600" y="1574800"/>
                </a:cubicBezTo>
                <a:lnTo>
                  <a:pt x="50800" y="1574800"/>
                </a:lnTo>
                <a:cubicBezTo>
                  <a:pt x="22763" y="1574800"/>
                  <a:pt x="0" y="1552037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8" name="Shape 16"/>
          <p:cNvSpPr/>
          <p:nvPr/>
        </p:nvSpPr>
        <p:spPr>
          <a:xfrm>
            <a:off x="533400" y="6807200"/>
            <a:ext cx="50800" cy="1574800"/>
          </a:xfrm>
          <a:custGeom>
            <a:avLst/>
            <a:gdLst/>
            <a:ahLst/>
            <a:cxnLst/>
            <a:rect l="l" t="t" r="r" b="b"/>
            <a:pathLst>
              <a:path w="50800" h="1574800">
                <a:moveTo>
                  <a:pt x="50800" y="0"/>
                </a:moveTo>
                <a:lnTo>
                  <a:pt x="50800" y="0"/>
                </a:lnTo>
                <a:lnTo>
                  <a:pt x="50800" y="1574800"/>
                </a:lnTo>
                <a:lnTo>
                  <a:pt x="50800" y="1574800"/>
                </a:lnTo>
                <a:cubicBezTo>
                  <a:pt x="22763" y="1574800"/>
                  <a:pt x="0" y="1552037"/>
                  <a:pt x="0" y="1524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70104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Group-Level Objective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7518400"/>
            <a:ext cx="7010400" cy="6604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04850" y="7670800"/>
            <a:ext cx="712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$\min_{s_g,\alpha,\gamma} \sum_{k=1}^{K}\mathcal{E}_{g}^{(k)}$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05800" y="1676400"/>
            <a:ext cx="7442200" cy="2794000"/>
          </a:xfrm>
          <a:custGeom>
            <a:avLst/>
            <a:gdLst/>
            <a:ahLst/>
            <a:cxnLst/>
            <a:rect l="l" t="t" r="r" b="b"/>
            <a:pathLst>
              <a:path w="7442200" h="27940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2692400"/>
                </a:lnTo>
                <a:cubicBezTo>
                  <a:pt x="7442200" y="2748475"/>
                  <a:pt x="7396675" y="2794000"/>
                  <a:pt x="7340600" y="2794000"/>
                </a:cubicBezTo>
                <a:lnTo>
                  <a:pt x="50800" y="2794000"/>
                </a:lnTo>
                <a:cubicBezTo>
                  <a:pt x="22763" y="2794000"/>
                  <a:pt x="0" y="2771237"/>
                  <a:pt x="0" y="274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3" name="Shape 21"/>
          <p:cNvSpPr/>
          <p:nvPr/>
        </p:nvSpPr>
        <p:spPr>
          <a:xfrm>
            <a:off x="8305800" y="1676400"/>
            <a:ext cx="50800" cy="2794000"/>
          </a:xfrm>
          <a:custGeom>
            <a:avLst/>
            <a:gdLst/>
            <a:ahLst/>
            <a:cxnLst/>
            <a:rect l="l" t="t" r="r" b="b"/>
            <a:pathLst>
              <a:path w="50800" h="2794000">
                <a:moveTo>
                  <a:pt x="50800" y="0"/>
                </a:moveTo>
                <a:lnTo>
                  <a:pt x="50800" y="0"/>
                </a:lnTo>
                <a:lnTo>
                  <a:pt x="50800" y="2794000"/>
                </a:lnTo>
                <a:lnTo>
                  <a:pt x="50800" y="2794000"/>
                </a:lnTo>
                <a:cubicBezTo>
                  <a:pt x="22763" y="2794000"/>
                  <a:pt x="0" y="2771237"/>
                  <a:pt x="0" y="274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4" name="Text 22"/>
          <p:cNvSpPr/>
          <p:nvPr/>
        </p:nvSpPr>
        <p:spPr>
          <a:xfrm>
            <a:off x="8534400" y="18796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Mechanism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34400" y="2387600"/>
            <a:ext cx="711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soft stride field induces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F9FAFB"/>
                </a:solidFill>
                <a:highlight>
                  <a:srgbClr val="8B0000">
                    <a:alpha val="10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soft participation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 each pathway.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540750" y="2876550"/>
            <a:ext cx="6997700" cy="1384300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99500" y="3035300"/>
            <a:ext cx="678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Materials Analogy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99500" y="3441700"/>
            <a:ext cx="6781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Each lattice pathway is stabilized mainly by the weights whose learned local dynamics prefer that pathway.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80400" y="4673600"/>
            <a:ext cx="7467600" cy="1651000"/>
          </a:xfrm>
          <a:prstGeom prst="roundRect">
            <a:avLst>
              <a:gd name="adj" fmla="val 6154"/>
            </a:avLst>
          </a:prstGeom>
          <a:solidFill>
            <a:srgbClr val="8B0000"/>
          </a:solidFill>
          <a:ln/>
        </p:spPr>
      </p:sp>
      <p:sp>
        <p:nvSpPr>
          <p:cNvPr id="30" name="Text 28"/>
          <p:cNvSpPr/>
          <p:nvPr/>
        </p:nvSpPr>
        <p:spPr>
          <a:xfrm>
            <a:off x="8483600" y="4876800"/>
            <a:ext cx="718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One-Line Takeaway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483600" y="5384800"/>
            <a:ext cx="7175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Each lattice pathway is calibrated primarily by the subset of weights that relax along it.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33400"/>
            <a:ext cx="64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2.3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20577" y="508000"/>
            <a:ext cx="1333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Coupled Gradients Across Stride Selection and Site Relaxation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0800" y="1117600"/>
            <a:ext cx="145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Why the optimization is well-posed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676400"/>
            <a:ext cx="7442200" cy="2438400"/>
          </a:xfrm>
          <a:custGeom>
            <a:avLst/>
            <a:gdLst/>
            <a:ahLst/>
            <a:cxnLst/>
            <a:rect l="l" t="t" r="r" b="b"/>
            <a:pathLst>
              <a:path w="7442200" h="24384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2336800"/>
                </a:lnTo>
                <a:cubicBezTo>
                  <a:pt x="7442200" y="2392875"/>
                  <a:pt x="7396675" y="2438400"/>
                  <a:pt x="7340600" y="2438400"/>
                </a:cubicBezTo>
                <a:lnTo>
                  <a:pt x="50800" y="2438400"/>
                </a:lnTo>
                <a:cubicBezTo>
                  <a:pt x="22763" y="2438400"/>
                  <a:pt x="0" y="2415637"/>
                  <a:pt x="0" y="238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676400"/>
            <a:ext cx="50800" cy="2438400"/>
          </a:xfrm>
          <a:custGeom>
            <a:avLst/>
            <a:gdLst/>
            <a:ahLst/>
            <a:cxnLst/>
            <a:rect l="l" t="t" r="r" b="b"/>
            <a:pathLst>
              <a:path w="50800" h="2438400">
                <a:moveTo>
                  <a:pt x="50800" y="0"/>
                </a:moveTo>
                <a:lnTo>
                  <a:pt x="50800" y="0"/>
                </a:lnTo>
                <a:lnTo>
                  <a:pt x="50800" y="2438400"/>
                </a:lnTo>
                <a:lnTo>
                  <a:pt x="50800" y="2438400"/>
                </a:lnTo>
                <a:cubicBezTo>
                  <a:pt x="22763" y="2438400"/>
                  <a:pt x="0" y="2415637"/>
                  <a:pt x="0" y="238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8796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Reconstructed Coordinate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387600"/>
            <a:ext cx="7010400" cy="9144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11200" y="2540000"/>
            <a:ext cx="711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$\hat{c}_{g,i} = \tilde{d}_{g,i}\left(\left\lfloor \frac{c_{g,i}}{\tilde{d}_{g,i}}\right\rfloor+\sigma(\alpha_{g,i})\right)$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403600"/>
            <a:ext cx="7010400" cy="50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11200" y="3505200"/>
            <a:ext cx="711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$\tilde{d}_{g,i} = \sum_{k=1}^{K}\pi_{g,i}^{(k)}d_g^{(k)}$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3400" y="4318000"/>
            <a:ext cx="7442200" cy="1930400"/>
          </a:xfrm>
          <a:custGeom>
            <a:avLst/>
            <a:gdLst/>
            <a:ahLst/>
            <a:cxnLst/>
            <a:rect l="l" t="t" r="r" b="b"/>
            <a:pathLst>
              <a:path w="7442200" h="19304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1828800"/>
                </a:lnTo>
                <a:cubicBezTo>
                  <a:pt x="7442200" y="1884875"/>
                  <a:pt x="7396675" y="1930400"/>
                  <a:pt x="7340600" y="1930400"/>
                </a:cubicBezTo>
                <a:lnTo>
                  <a:pt x="50800" y="1930400"/>
                </a:lnTo>
                <a:cubicBezTo>
                  <a:pt x="22763" y="1930400"/>
                  <a:pt x="0" y="1907637"/>
                  <a:pt x="0" y="187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3" name="Shape 11"/>
          <p:cNvSpPr/>
          <p:nvPr/>
        </p:nvSpPr>
        <p:spPr>
          <a:xfrm>
            <a:off x="533400" y="4318000"/>
            <a:ext cx="50800" cy="1930400"/>
          </a:xfrm>
          <a:custGeom>
            <a:avLst/>
            <a:gdLst/>
            <a:ahLst/>
            <a:cxnLst/>
            <a:rect l="l" t="t" r="r" b="b"/>
            <a:pathLst>
              <a:path w="50800" h="1930400">
                <a:moveTo>
                  <a:pt x="50800" y="0"/>
                </a:moveTo>
                <a:lnTo>
                  <a:pt x="50800" y="0"/>
                </a:lnTo>
                <a:lnTo>
                  <a:pt x="50800" y="1930400"/>
                </a:lnTo>
                <a:lnTo>
                  <a:pt x="50800" y="1930400"/>
                </a:lnTo>
                <a:cubicBezTo>
                  <a:pt x="22763" y="1930400"/>
                  <a:pt x="0" y="1907637"/>
                  <a:pt x="0" y="187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45212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Sensitivity to Site Relaxation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029200"/>
            <a:ext cx="7010400" cy="101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04850" y="5181600"/>
            <a:ext cx="71247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$\frac{\partial \hat{c}_{g,i}}{\partial \alpha_{g,i}} = \tilde{d}_{g,i}\,\sigma(\alpha_{g,i})(1-\sigma(\alpha_{g,i}))$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3400" y="6451600"/>
            <a:ext cx="7442200" cy="1828800"/>
          </a:xfrm>
          <a:custGeom>
            <a:avLst/>
            <a:gdLst/>
            <a:ahLst/>
            <a:cxnLst/>
            <a:rect l="l" t="t" r="r" b="b"/>
            <a:pathLst>
              <a:path w="7442200" h="18288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1727200"/>
                </a:lnTo>
                <a:cubicBezTo>
                  <a:pt x="7442200" y="1783275"/>
                  <a:pt x="7396675" y="1828800"/>
                  <a:pt x="7340600" y="1828800"/>
                </a:cubicBez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8" name="Shape 16"/>
          <p:cNvSpPr/>
          <p:nvPr/>
        </p:nvSpPr>
        <p:spPr>
          <a:xfrm>
            <a:off x="533400" y="6451600"/>
            <a:ext cx="50800" cy="1828800"/>
          </a:xfrm>
          <a:custGeom>
            <a:avLst/>
            <a:gdLst/>
            <a:ahLst/>
            <a:cxnLst/>
            <a:rect l="l" t="t" r="r" b="b"/>
            <a:pathLst>
              <a:path w="50800" h="1828800">
                <a:moveTo>
                  <a:pt x="50800" y="0"/>
                </a:moveTo>
                <a:lnTo>
                  <a:pt x="50800" y="0"/>
                </a:lnTo>
                <a:lnTo>
                  <a:pt x="50800" y="1828800"/>
                </a:ln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66548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Sensitivity to Stride Selection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7162800"/>
            <a:ext cx="7010400" cy="9144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11200" y="7315200"/>
            <a:ext cx="711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$\frac{\partial \tilde{d}_{g,i}}{\partial \gamma_{g,i}^{(k)}} = \sum_{j=1}^{K}d_g^{(j)}\frac{\partial \pi_{g,i}^{(j)}}{\partial \gamma_{g,i}^{(k)}}$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05800" y="1676400"/>
            <a:ext cx="7442200" cy="1828800"/>
          </a:xfrm>
          <a:custGeom>
            <a:avLst/>
            <a:gdLst/>
            <a:ahLst/>
            <a:cxnLst/>
            <a:rect l="l" t="t" r="r" b="b"/>
            <a:pathLst>
              <a:path w="7442200" h="18288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1727200"/>
                </a:lnTo>
                <a:cubicBezTo>
                  <a:pt x="7442200" y="1783275"/>
                  <a:pt x="7396675" y="1828800"/>
                  <a:pt x="7340600" y="1828800"/>
                </a:cubicBez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3" name="Shape 21"/>
          <p:cNvSpPr/>
          <p:nvPr/>
        </p:nvSpPr>
        <p:spPr>
          <a:xfrm>
            <a:off x="8305800" y="1676400"/>
            <a:ext cx="50800" cy="1828800"/>
          </a:xfrm>
          <a:custGeom>
            <a:avLst/>
            <a:gdLst/>
            <a:ahLst/>
            <a:cxnLst/>
            <a:rect l="l" t="t" r="r" b="b"/>
            <a:pathLst>
              <a:path w="50800" h="1828800">
                <a:moveTo>
                  <a:pt x="50800" y="0"/>
                </a:moveTo>
                <a:lnTo>
                  <a:pt x="50800" y="0"/>
                </a:lnTo>
                <a:lnTo>
                  <a:pt x="50800" y="1828800"/>
                </a:ln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8534400" y="18796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Softmax Jacobian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34400" y="2387600"/>
            <a:ext cx="7010400" cy="9144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483600" y="2540000"/>
            <a:ext cx="711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$\frac{\partial \pi_{g,i}^{(j)}}{\partial \gamma_{g,i}^{(k)}} = \frac{1}{T}\,\pi_{g,i}^{(j)}\bigl(\delta_{jk}-\pi_{g,i}^{(k)}\bigr)$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05800" y="3708400"/>
            <a:ext cx="7442200" cy="1879600"/>
          </a:xfrm>
          <a:custGeom>
            <a:avLst/>
            <a:gdLst/>
            <a:ahLst/>
            <a:cxnLst/>
            <a:rect l="l" t="t" r="r" b="b"/>
            <a:pathLst>
              <a:path w="7442200" h="18796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1778000"/>
                </a:lnTo>
                <a:cubicBezTo>
                  <a:pt x="7442200" y="1834075"/>
                  <a:pt x="7396675" y="1879600"/>
                  <a:pt x="7340600" y="1879600"/>
                </a:cubicBezTo>
                <a:lnTo>
                  <a:pt x="50800" y="1879600"/>
                </a:lnTo>
                <a:cubicBezTo>
                  <a:pt x="22763" y="1879600"/>
                  <a:pt x="0" y="1856837"/>
                  <a:pt x="0" y="1828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8" name="Shape 26"/>
          <p:cNvSpPr/>
          <p:nvPr/>
        </p:nvSpPr>
        <p:spPr>
          <a:xfrm>
            <a:off x="8305800" y="3708400"/>
            <a:ext cx="50800" cy="1879600"/>
          </a:xfrm>
          <a:custGeom>
            <a:avLst/>
            <a:gdLst/>
            <a:ahLst/>
            <a:cxnLst/>
            <a:rect l="l" t="t" r="r" b="b"/>
            <a:pathLst>
              <a:path w="50800" h="1879600">
                <a:moveTo>
                  <a:pt x="50800" y="0"/>
                </a:moveTo>
                <a:lnTo>
                  <a:pt x="50800" y="0"/>
                </a:lnTo>
                <a:lnTo>
                  <a:pt x="50800" y="1879600"/>
                </a:lnTo>
                <a:lnTo>
                  <a:pt x="50800" y="1879600"/>
                </a:lnTo>
                <a:cubicBezTo>
                  <a:pt x="22763" y="1879600"/>
                  <a:pt x="0" y="1856837"/>
                  <a:pt x="0" y="1828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9" name="Text 27"/>
          <p:cNvSpPr/>
          <p:nvPr/>
        </p:nvSpPr>
        <p:spPr>
          <a:xfrm>
            <a:off x="8534400" y="39116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34400" y="44196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8483600" y="44196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Γ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93200" y="4419600"/>
            <a:ext cx="4191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Gamma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controls which pathway stride is active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34400" y="49784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8483600" y="49784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Α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093200" y="4978400"/>
            <a:ext cx="6451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Alpha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controls where the weight stabilizes between two neighboring sites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80400" y="5791200"/>
            <a:ext cx="7467600" cy="1651000"/>
          </a:xfrm>
          <a:prstGeom prst="roundRect">
            <a:avLst>
              <a:gd name="adj" fmla="val 6154"/>
            </a:avLst>
          </a:prstGeom>
          <a:solidFill>
            <a:srgbClr val="8B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8483600" y="5994400"/>
            <a:ext cx="718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One-Line Takeaway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83600" y="6502400"/>
            <a:ext cx="7175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method learns at two coupled levels: pathway selection and neighboring-site stabilization.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33400"/>
            <a:ext cx="596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071761" y="508000"/>
            <a:ext cx="9118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Site Stabilization Into the Execution Image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0800" y="1117600"/>
            <a:ext cx="145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Continuous calibration to discrete stabilization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676400"/>
            <a:ext cx="7442200" cy="2057400"/>
          </a:xfrm>
          <a:custGeom>
            <a:avLst/>
            <a:gdLst/>
            <a:ahLst/>
            <a:cxnLst/>
            <a:rect l="l" t="t" r="r" b="b"/>
            <a:pathLst>
              <a:path w="7442200" h="20574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1955800"/>
                </a:lnTo>
                <a:cubicBezTo>
                  <a:pt x="7442200" y="2011875"/>
                  <a:pt x="7396675" y="2057400"/>
                  <a:pt x="7340600" y="2057400"/>
                </a:cubicBezTo>
                <a:lnTo>
                  <a:pt x="50800" y="2057400"/>
                </a:lnTo>
                <a:cubicBezTo>
                  <a:pt x="22763" y="2057400"/>
                  <a:pt x="0" y="2034637"/>
                  <a:pt x="0" y="2006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676400"/>
            <a:ext cx="50800" cy="2057400"/>
          </a:xfrm>
          <a:custGeom>
            <a:avLst/>
            <a:gdLst/>
            <a:ahLst/>
            <a:cxnLst/>
            <a:rect l="l" t="t" r="r" b="b"/>
            <a:pathLst>
              <a:path w="50800" h="2057400">
                <a:moveTo>
                  <a:pt x="50800" y="0"/>
                </a:moveTo>
                <a:lnTo>
                  <a:pt x="50800" y="0"/>
                </a:lnTo>
                <a:lnTo>
                  <a:pt x="50800" y="2057400"/>
                </a:lnTo>
                <a:lnTo>
                  <a:pt x="50800" y="2057400"/>
                </a:lnTo>
                <a:cubicBezTo>
                  <a:pt x="22763" y="2057400"/>
                  <a:pt x="0" y="2034637"/>
                  <a:pt x="0" y="2006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8796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Harden Stride Field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387600"/>
            <a:ext cx="711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After calibration, the soft stride field is hardened into a concrete pathway: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870200"/>
            <a:ext cx="7010400" cy="6604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98500" y="30226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$k^*_{g,i} = \arg\max_k \pi_{g,i}^{(k)}$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400" y="3937000"/>
            <a:ext cx="7442200" cy="3403600"/>
          </a:xfrm>
          <a:custGeom>
            <a:avLst/>
            <a:gdLst/>
            <a:ahLst/>
            <a:cxnLst/>
            <a:rect l="l" t="t" r="r" b="b"/>
            <a:pathLst>
              <a:path w="7442200" h="34036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3302000"/>
                </a:lnTo>
                <a:cubicBezTo>
                  <a:pt x="7442200" y="3358075"/>
                  <a:pt x="7396675" y="3403600"/>
                  <a:pt x="7340600" y="3403600"/>
                </a:cubicBezTo>
                <a:lnTo>
                  <a:pt x="50800" y="3403600"/>
                </a:lnTo>
                <a:cubicBezTo>
                  <a:pt x="22763" y="3403600"/>
                  <a:pt x="0" y="3380837"/>
                  <a:pt x="0" y="335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2" name="Shape 10"/>
          <p:cNvSpPr/>
          <p:nvPr/>
        </p:nvSpPr>
        <p:spPr>
          <a:xfrm>
            <a:off x="533400" y="3937000"/>
            <a:ext cx="50800" cy="3403600"/>
          </a:xfrm>
          <a:custGeom>
            <a:avLst/>
            <a:gdLst/>
            <a:ahLst/>
            <a:cxnLst/>
            <a:rect l="l" t="t" r="r" b="b"/>
            <a:pathLst>
              <a:path w="50800" h="3403600">
                <a:moveTo>
                  <a:pt x="50800" y="0"/>
                </a:moveTo>
                <a:lnTo>
                  <a:pt x="50800" y="0"/>
                </a:lnTo>
                <a:lnTo>
                  <a:pt x="50800" y="3403600"/>
                </a:lnTo>
                <a:lnTo>
                  <a:pt x="50800" y="3403600"/>
                </a:lnTo>
                <a:cubicBezTo>
                  <a:pt x="22763" y="3403600"/>
                  <a:pt x="0" y="3380837"/>
                  <a:pt x="0" y="335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41402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Harden Site-Relaxation Projector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4648200"/>
            <a:ext cx="711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site-relaxation projector is hardened into a discrete local decision: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130800"/>
            <a:ext cx="7010400" cy="2006600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704850" y="5283200"/>
                <a:ext cx="7124700" cy="1701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en-US" sz="1800" dirty="0">
                    <a:solidFill>
                      <a:srgbClr val="1F2937"/>
                    </a:solidFill>
                    <a:latin typeface="Sorts Mill Goudy" pitchFamily="34" charset="0"/>
                    <a:ea typeface="Sorts Mill Goudy" pitchFamily="34" charset="-122"/>
                    <a:cs typeface="Sorts Mill Goudy" pitchFamily="34" charset="-120"/>
                  </a:rPr>
                  <a:t>$\bar{p}_{g,i} = </a:t>
                </a:r>
                <a:pPr algn="ctr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dirty="0">
                          <a:solidFill>
                            <a:srgbClr val="1F2937"/>
                          </a:solidFill>
                        </a:rPr>
                        <m:t>{</m:t>
                      </m:r>
                      <m:m>
                        <m:mPr>
                          <m:ctrlPr>
                            <a:rPr lang="en-US" sz="1800" dirty="0">
                              <a:solidFill>
                                <a:srgbClr val="1F2937"/>
                              </a:solidFill>
                            </a:rPr>
                          </m:ctrlPr>
                        </m:mPr>
                        <m:mr>
                          <m:e>
                            <m:e>
                              <m:r>
                                <a:rPr lang="en-US" sz="1800" dirty="0">
                                  <a:solidFill>
                                    <a:srgbClr val="1F2937"/>
                                  </a:solidFill>
                                </a:rPr>
                                <m:t>0</m:t>
                              </m:r>
                              <m:r>
                                <a:rPr lang="en-US" sz="1800" dirty="0">
                                  <a:solidFill>
                                    <a:srgbClr val="1F2937"/>
                                  </a:solidFill>
                                </a:rPr>
                                <m:t>,</m:t>
                              </m:r>
                            </m:e>
                          </m:e>
                          <m:e>
                            <m:e>
                              <m:r>
                                <a:rPr lang="en-US" sz="1800" i="1" dirty="0">
                                  <a:solidFill>
                                    <a:srgbClr val="1F2937"/>
                                  </a:solidFill>
                                </a:rPr>
                                <m:t>σ</m:t>
                              </m:r>
                              <m:r>
                                <a:rPr lang="en-US" sz="1800" dirty="0">
                                  <a:solidFill>
                                    <a:srgbClr val="1F2937"/>
                                  </a:solidFill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300" dirty="0">
                                      <a:solidFill>
                                        <a:srgbClr val="1F2937"/>
                                      </a:solidFill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i="1" dirty="0">
                                      <a:solidFill>
                                        <a:srgbClr val="1F2937"/>
                                      </a:solidFill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en-US" sz="1300" i="1" dirty="0">
                                      <a:solidFill>
                                        <a:srgbClr val="1F2937"/>
                                      </a:solidFill>
                                    </a:rPr>
                                    <m:t>g</m:t>
                                  </m:r>
                                  <m:r>
                                    <a:rPr lang="en-US" sz="1300" dirty="0">
                                      <a:solidFill>
                                        <a:srgbClr val="1F2937"/>
                                      </a:solidFill>
                                    </a:rPr>
                                    <m:t>,</m:t>
                                  </m:r>
                                  <m:r>
                                    <a:rPr lang="en-US" sz="1300" i="1" dirty="0">
                                      <a:solidFill>
                                        <a:srgbClr val="1F2937"/>
                                      </a:solidFill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sz="1800" dirty="0">
                                  <a:solidFill>
                                    <a:srgbClr val="1F2937"/>
                                  </a:solidFill>
                                </a:rPr>
                                <m:t>)</m:t>
                              </m:r>
                              <m:r>
                                <a:rPr lang="en-US" sz="1800" dirty="0">
                                  <a:solidFill>
                                    <a:srgbClr val="1F2937"/>
                                  </a:solidFill>
                                </a:rPr>
                                <m:t>&amp;lt;</m:t>
                              </m:r>
                              <m:r>
                                <a:rPr lang="en-US" sz="1800" dirty="0">
                                  <a:solidFill>
                                    <a:srgbClr val="1F2937"/>
                                  </a:solidFill>
                                </a:rPr>
                                <m:t>0.5</m:t>
                              </m:r>
                            </m:e>
                          </m:e>
                        </m:mr>
                        <m:mr>
                          <m:e>
                            <m:e>
                              <m:r>
                                <a:rPr lang="en-US" sz="1800" dirty="0">
                                  <a:solidFill>
                                    <a:srgbClr val="1F2937"/>
                                  </a:solidFill>
                                </a:rPr>
                                <m:t>1</m:t>
                              </m:r>
                              <m:r>
                                <a:rPr lang="en-US" sz="1800" dirty="0">
                                  <a:solidFill>
                                    <a:srgbClr val="1F2937"/>
                                  </a:solidFill>
                                </a:rPr>
                                <m:t>,</m:t>
                              </m:r>
                            </m:e>
                          </m:e>
                          <m:e>
                            <m:e>
                              <m:r>
                                <a:rPr lang="en-US" sz="1800" i="1" dirty="0">
                                  <a:solidFill>
                                    <a:srgbClr val="1F2937"/>
                                  </a:solidFill>
                                </a:rPr>
                                <m:t>σ</m:t>
                              </m:r>
                              <m:r>
                                <a:rPr lang="en-US" sz="1800" dirty="0">
                                  <a:solidFill>
                                    <a:srgbClr val="1F2937"/>
                                  </a:solidFill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300" dirty="0">
                                      <a:solidFill>
                                        <a:srgbClr val="1F2937"/>
                                      </a:solidFill>
                                    </a:rPr>
                                  </m:ctrlPr>
                                </m:sSubPr>
                                <m:e>
                                  <m:r>
                                    <a:rPr lang="en-US" sz="1300" i="1" dirty="0">
                                      <a:solidFill>
                                        <a:srgbClr val="1F2937"/>
                                      </a:solidFill>
                                    </a:rPr>
                                    <m:t>α</m:t>
                                  </m:r>
                                </m:e>
                                <m:sub>
                                  <m:r>
                                    <a:rPr lang="en-US" sz="1300" i="1" dirty="0">
                                      <a:solidFill>
                                        <a:srgbClr val="1F2937"/>
                                      </a:solidFill>
                                    </a:rPr>
                                    <m:t>g</m:t>
                                  </m:r>
                                  <m:r>
                                    <a:rPr lang="en-US" sz="1300" dirty="0">
                                      <a:solidFill>
                                        <a:srgbClr val="1F2937"/>
                                      </a:solidFill>
                                    </a:rPr>
                                    <m:t>,</m:t>
                                  </m:r>
                                  <m:r>
                                    <a:rPr lang="en-US" sz="1300" i="1" dirty="0">
                                      <a:solidFill>
                                        <a:srgbClr val="1F2937"/>
                                      </a:solidFill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sz="1800" dirty="0">
                                  <a:solidFill>
                                    <a:srgbClr val="1F2937"/>
                                  </a:solidFill>
                                </a:rPr>
                                <m:t>)</m:t>
                              </m:r>
                              <m:r>
                                <a:rPr lang="en-US" sz="1800" dirty="0">
                                  <a:solidFill>
                                    <a:srgbClr val="1F2937"/>
                                  </a:solidFill>
                                </a:rPr>
                                <m:t>≥</m:t>
                              </m:r>
                              <m:r>
                                <a:rPr lang="en-US" sz="1800" dirty="0">
                                  <a:solidFill>
                                    <a:srgbClr val="1F2937"/>
                                  </a:solidFill>
                                </a:rPr>
                                <m:t>0.5</m:t>
                              </m:r>
                            </m:e>
                          </m:e>
                        </m:mr>
                      </m:m>
                    </m:oMath>
                  </m:oMathPara>
                </a14:m>
                <a:pPr algn="ctr">
                  <a:lnSpc>
                    <a:spcPct val="130000"/>
                  </a:lnSpc>
                </a:pPr>
                <a:r>
                  <a:rPr lang="en-US" sz="1800" dirty="0">
                    <a:solidFill>
                      <a:srgbClr val="1F2937"/>
                    </a:solidFill>
                    <a:latin typeface="Sorts Mill Goudy" pitchFamily="34" charset="0"/>
                    <a:ea typeface="Sorts Mill Goudy" pitchFamily="34" charset="-122"/>
                    <a:cs typeface="Sorts Mill Goudy" pitchFamily="34" charset="-120"/>
                  </a:rPr>
                  <a:t>$</a:t>
                </a:r>
                <a:endParaRPr lang="en-US" sz="1600" dirty="0"/>
              </a:p>
            </p:txBody>
          </p:sp>
        </mc:Choice>
        <mc:Fallback xmlns="">
          <p:sp>
            <p:nvSpPr>
              <p:cNvPr id="16" name="Text 14"/>
              <p:cNvSpPr/>
              <p:nvPr/>
            </p:nvSpPr>
            <p:spPr>
              <a:xfrm>
                <a:off x="704850" y="5283200"/>
                <a:ext cx="7124700" cy="17018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>
                  <a:lnSpc>
                    <a:spcPct val="130000"/>
                  </a:lnSpc>
                </a:pPr>
                <a:r>
                  <a:rPr lang="en-US" sz="1800" dirty="0">
                    <a:solidFill>
                      <a:srgbClr val="1F2937"/>
                    </a:solidFill>
                    <a:latin typeface="Sorts Mill Goudy" pitchFamily="34" charset="0"/>
                    <a:ea typeface="Sorts Mill Goudy" pitchFamily="34" charset="-122"/>
                    <a:cs typeface="Sorts Mill Goudy" pitchFamily="34" charset="-120"/>
                  </a:rPr>
                  <a:t>$\bar{p}_{g,i} = </a:t>
                </a:r>
                <a:pPr algn="ctr">
                  <a:lnSpc>
                    <a:spcPct val="130000"/>
                  </a:lnSpc>
                </a:pPr>
                <a:r>
                  <a:rPr lang="en-US" sz="1800" dirty="0">
                    <a:solidFill>
                      <a:srgbClr val="1F2937"/>
                    </a:solidFill>
                    <a:latin typeface="微软雅黑" pitchFamily="34" charset="0"/>
                    <a:ea typeface="微软雅黑" pitchFamily="34" charset="-122"/>
                    <a:cs typeface="微软雅黑" pitchFamily="34" charset="-120"/>
                  </a:rPr>
                  <a:t>( \begin{cases} 0, &amp; \sigma(\alpha_{g,i})&lt;0.5 \\ 1, &amp; \sigma(\alpha_{g,i})\ge 0.5 \end{cases} )</a:t>
                </a:r>
                <a:pPr algn="ctr">
                  <a:lnSpc>
                    <a:spcPct val="130000"/>
                  </a:lnSpc>
                </a:pPr>
                <a:r>
                  <a:rPr lang="en-US" sz="1800" dirty="0">
                    <a:solidFill>
                      <a:srgbClr val="1F2937"/>
                    </a:solidFill>
                    <a:latin typeface="Sorts Mill Goudy" pitchFamily="34" charset="0"/>
                    <a:ea typeface="Sorts Mill Goudy" pitchFamily="34" charset="-122"/>
                    <a:cs typeface="Sorts Mill Goudy" pitchFamily="34" charset="-120"/>
                  </a:rPr>
                  <a:t>$</a:t>
                </a:r>
                <a:endParaRPr lang="en-US" sz="1600" dirty="0"/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533400" y="7537648"/>
            <a:ext cx="7442200" cy="1828800"/>
          </a:xfrm>
          <a:custGeom>
            <a:avLst/>
            <a:gdLst/>
            <a:ahLst/>
            <a:cxnLst/>
            <a:rect l="l" t="t" r="r" b="b"/>
            <a:pathLst>
              <a:path w="7442200" h="18288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1727200"/>
                </a:lnTo>
                <a:cubicBezTo>
                  <a:pt x="7442200" y="1783275"/>
                  <a:pt x="7396675" y="1828800"/>
                  <a:pt x="7340600" y="1828800"/>
                </a:cubicBez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8" name="Shape 16"/>
          <p:cNvSpPr/>
          <p:nvPr/>
        </p:nvSpPr>
        <p:spPr>
          <a:xfrm>
            <a:off x="533400" y="7537648"/>
            <a:ext cx="50800" cy="1828800"/>
          </a:xfrm>
          <a:custGeom>
            <a:avLst/>
            <a:gdLst/>
            <a:ahLst/>
            <a:cxnLst/>
            <a:rect l="l" t="t" r="r" b="b"/>
            <a:pathLst>
              <a:path w="50800" h="1828800">
                <a:moveTo>
                  <a:pt x="50800" y="0"/>
                </a:moveTo>
                <a:lnTo>
                  <a:pt x="50800" y="0"/>
                </a:lnTo>
                <a:lnTo>
                  <a:pt x="50800" y="1828800"/>
                </a:ln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7740848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Final Deployed Coordinate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248848"/>
            <a:ext cx="7010400" cy="9144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11200" y="8401248"/>
            <a:ext cx="711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$\tilde{c}_{g,i} = d_g^{(k^*_{g,i})}\left(\left\lfloor \frac{c_{g,i}}{d_g^{(k^*_{g,i})}}\right\rfloor+\bar{p}_{g,i}\right)$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05800" y="1676400"/>
            <a:ext cx="7442200" cy="1714500"/>
          </a:xfrm>
          <a:custGeom>
            <a:avLst/>
            <a:gdLst/>
            <a:ahLst/>
            <a:cxnLst/>
            <a:rect l="l" t="t" r="r" b="b"/>
            <a:pathLst>
              <a:path w="7442200" h="17145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1612900"/>
                </a:lnTo>
                <a:cubicBezTo>
                  <a:pt x="7442200" y="1668975"/>
                  <a:pt x="7396675" y="1714500"/>
                  <a:pt x="7340600" y="1714500"/>
                </a:cubicBezTo>
                <a:lnTo>
                  <a:pt x="50800" y="1714500"/>
                </a:lnTo>
                <a:cubicBezTo>
                  <a:pt x="22763" y="1714500"/>
                  <a:pt x="0" y="1691737"/>
                  <a:pt x="0" y="1663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3" name="Shape 21"/>
          <p:cNvSpPr/>
          <p:nvPr/>
        </p:nvSpPr>
        <p:spPr>
          <a:xfrm>
            <a:off x="8305800" y="1676400"/>
            <a:ext cx="50800" cy="1714500"/>
          </a:xfrm>
          <a:custGeom>
            <a:avLst/>
            <a:gdLst/>
            <a:ahLst/>
            <a:cxnLst/>
            <a:rect l="l" t="t" r="r" b="b"/>
            <a:pathLst>
              <a:path w="50800" h="1714500">
                <a:moveTo>
                  <a:pt x="50800" y="0"/>
                </a:moveTo>
                <a:lnTo>
                  <a:pt x="50800" y="0"/>
                </a:lnTo>
                <a:lnTo>
                  <a:pt x="50800" y="1714500"/>
                </a:lnTo>
                <a:lnTo>
                  <a:pt x="50800" y="1714500"/>
                </a:lnTo>
                <a:cubicBezTo>
                  <a:pt x="22763" y="1714500"/>
                  <a:pt x="0" y="1691737"/>
                  <a:pt x="0" y="16637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8534400" y="18796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Deployed Weight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34400" y="2387600"/>
            <a:ext cx="7010400" cy="800100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8458200" y="2590800"/>
            <a:ext cx="7162800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$\tilde{w}_{g,i} = s_g\,\tilde{c}_{g,i}$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05800" y="3594100"/>
            <a:ext cx="7442200" cy="2743200"/>
          </a:xfrm>
          <a:custGeom>
            <a:avLst/>
            <a:gdLst/>
            <a:ahLst/>
            <a:cxnLst/>
            <a:rect l="l" t="t" r="r" b="b"/>
            <a:pathLst>
              <a:path w="7442200" h="27432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2641600"/>
                </a:lnTo>
                <a:cubicBezTo>
                  <a:pt x="7442200" y="2697675"/>
                  <a:pt x="7396675" y="2743200"/>
                  <a:pt x="7340600" y="2743200"/>
                </a:cubicBezTo>
                <a:lnTo>
                  <a:pt x="50800" y="2743200"/>
                </a:lnTo>
                <a:cubicBezTo>
                  <a:pt x="22763" y="2743200"/>
                  <a:pt x="0" y="2720437"/>
                  <a:pt x="0" y="269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8" name="Shape 26"/>
          <p:cNvSpPr/>
          <p:nvPr/>
        </p:nvSpPr>
        <p:spPr>
          <a:xfrm>
            <a:off x="8305800" y="3594100"/>
            <a:ext cx="50800" cy="2743200"/>
          </a:xfrm>
          <a:custGeom>
            <a:avLst/>
            <a:gdLst/>
            <a:ahLst/>
            <a:cxnLst/>
            <a:rect l="l" t="t" r="r" b="b"/>
            <a:pathLst>
              <a:path w="50800" h="2743200">
                <a:moveTo>
                  <a:pt x="50800" y="0"/>
                </a:moveTo>
                <a:lnTo>
                  <a:pt x="50800" y="0"/>
                </a:lnTo>
                <a:lnTo>
                  <a:pt x="50800" y="2743200"/>
                </a:lnTo>
                <a:lnTo>
                  <a:pt x="50800" y="2743200"/>
                </a:lnTo>
                <a:cubicBezTo>
                  <a:pt x="22763" y="2743200"/>
                  <a:pt x="0" y="2720437"/>
                  <a:pt x="0" y="2692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9" name="Text 27"/>
          <p:cNvSpPr/>
          <p:nvPr/>
        </p:nvSpPr>
        <p:spPr>
          <a:xfrm>
            <a:off x="8534400" y="37973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Process Summary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34400" y="43053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8477250" y="43053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194800" y="4406900"/>
            <a:ext cx="262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Continuous calibration (soft)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34400" y="49657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34" name="Text 32"/>
          <p:cNvSpPr/>
          <p:nvPr/>
        </p:nvSpPr>
        <p:spPr>
          <a:xfrm>
            <a:off x="8477250" y="49657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94800" y="5067300"/>
            <a:ext cx="287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Hardening (argmax + threshold)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34400" y="56261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8477250" y="56261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94800" y="5727700"/>
            <a:ext cx="248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Discrete deployment (hard)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80400" y="6540500"/>
            <a:ext cx="7467600" cy="1651000"/>
          </a:xfrm>
          <a:prstGeom prst="roundRect">
            <a:avLst>
              <a:gd name="adj" fmla="val 6154"/>
            </a:avLst>
          </a:prstGeom>
          <a:solidFill>
            <a:srgbClr val="8B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8483600" y="6743700"/>
            <a:ext cx="718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One-Line Takeaway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483600" y="7251700"/>
            <a:ext cx="7175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Calibration is continuous site relaxation; deployment is discrete site stabilization.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33400"/>
            <a:ext cx="64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20577" y="508000"/>
            <a:ext cx="11010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Single Execution Image and Entropy-Coded Storage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0800" y="1117600"/>
            <a:ext cx="145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One stabilized quantized object, not multiple runtime streams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676400"/>
            <a:ext cx="7442200" cy="2057400"/>
          </a:xfrm>
          <a:custGeom>
            <a:avLst/>
            <a:gdLst/>
            <a:ahLst/>
            <a:cxnLst/>
            <a:rect l="l" t="t" r="r" b="b"/>
            <a:pathLst>
              <a:path w="7442200" h="20574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1955800"/>
                </a:lnTo>
                <a:cubicBezTo>
                  <a:pt x="7442200" y="2011875"/>
                  <a:pt x="7396675" y="2057400"/>
                  <a:pt x="7340600" y="2057400"/>
                </a:cubicBezTo>
                <a:lnTo>
                  <a:pt x="50800" y="2057400"/>
                </a:lnTo>
                <a:cubicBezTo>
                  <a:pt x="22763" y="2057400"/>
                  <a:pt x="0" y="2034637"/>
                  <a:pt x="0" y="2006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676400"/>
            <a:ext cx="50800" cy="2057400"/>
          </a:xfrm>
          <a:custGeom>
            <a:avLst/>
            <a:gdLst/>
            <a:ahLst/>
            <a:cxnLst/>
            <a:rect l="l" t="t" r="r" b="b"/>
            <a:pathLst>
              <a:path w="50800" h="2057400">
                <a:moveTo>
                  <a:pt x="50800" y="0"/>
                </a:moveTo>
                <a:lnTo>
                  <a:pt x="50800" y="0"/>
                </a:lnTo>
                <a:lnTo>
                  <a:pt x="50800" y="2057400"/>
                </a:lnTo>
                <a:lnTo>
                  <a:pt x="50800" y="2057400"/>
                </a:lnTo>
                <a:cubicBezTo>
                  <a:pt x="22763" y="2057400"/>
                  <a:pt x="0" y="2034637"/>
                  <a:pt x="0" y="2006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8796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Deployed Tensor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387600"/>
            <a:ext cx="711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deployed tensor is emitted as one stabilized quantized object: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870200"/>
            <a:ext cx="7010400" cy="6604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98500" y="30226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$\tilde{W} = Q_{\mathrm{hard}}(W)$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400" y="3937000"/>
            <a:ext cx="7442200" cy="2057400"/>
          </a:xfrm>
          <a:custGeom>
            <a:avLst/>
            <a:gdLst/>
            <a:ahLst/>
            <a:cxnLst/>
            <a:rect l="l" t="t" r="r" b="b"/>
            <a:pathLst>
              <a:path w="7442200" h="20574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1955800"/>
                </a:lnTo>
                <a:cubicBezTo>
                  <a:pt x="7442200" y="2011875"/>
                  <a:pt x="7396675" y="2057400"/>
                  <a:pt x="7340600" y="2057400"/>
                </a:cubicBezTo>
                <a:lnTo>
                  <a:pt x="50800" y="2057400"/>
                </a:lnTo>
                <a:cubicBezTo>
                  <a:pt x="22763" y="2057400"/>
                  <a:pt x="0" y="2034637"/>
                  <a:pt x="0" y="2006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2" name="Shape 10"/>
          <p:cNvSpPr/>
          <p:nvPr/>
        </p:nvSpPr>
        <p:spPr>
          <a:xfrm>
            <a:off x="533400" y="3937000"/>
            <a:ext cx="50800" cy="2057400"/>
          </a:xfrm>
          <a:custGeom>
            <a:avLst/>
            <a:gdLst/>
            <a:ahLst/>
            <a:cxnLst/>
            <a:rect l="l" t="t" r="r" b="b"/>
            <a:pathLst>
              <a:path w="50800" h="2057400">
                <a:moveTo>
                  <a:pt x="50800" y="0"/>
                </a:moveTo>
                <a:lnTo>
                  <a:pt x="50800" y="0"/>
                </a:lnTo>
                <a:lnTo>
                  <a:pt x="50800" y="2057400"/>
                </a:lnTo>
                <a:lnTo>
                  <a:pt x="50800" y="2057400"/>
                </a:lnTo>
                <a:cubicBezTo>
                  <a:pt x="22763" y="2057400"/>
                  <a:pt x="0" y="2034637"/>
                  <a:pt x="0" y="2006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41402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Inference Execution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648200"/>
            <a:ext cx="7010400" cy="6604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98500" y="48006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$Y = X\tilde{W}$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5461000"/>
            <a:ext cx="711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Not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as multiple runtime streams.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3400" y="6197600"/>
            <a:ext cx="7442200" cy="2540000"/>
          </a:xfrm>
          <a:custGeom>
            <a:avLst/>
            <a:gdLst/>
            <a:ahLst/>
            <a:cxnLst/>
            <a:rect l="l" t="t" r="r" b="b"/>
            <a:pathLst>
              <a:path w="7442200" h="25400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2438400"/>
                </a:lnTo>
                <a:cubicBezTo>
                  <a:pt x="7442200" y="2494475"/>
                  <a:pt x="7396675" y="2540000"/>
                  <a:pt x="7340600" y="2540000"/>
                </a:cubicBezTo>
                <a:lnTo>
                  <a:pt x="50800" y="2540000"/>
                </a:lnTo>
                <a:cubicBezTo>
                  <a:pt x="22763" y="2540000"/>
                  <a:pt x="0" y="2517237"/>
                  <a:pt x="0" y="2489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8" name="Shape 16"/>
          <p:cNvSpPr/>
          <p:nvPr/>
        </p:nvSpPr>
        <p:spPr>
          <a:xfrm>
            <a:off x="533400" y="6197600"/>
            <a:ext cx="50800" cy="2540000"/>
          </a:xfrm>
          <a:custGeom>
            <a:avLst/>
            <a:gdLst/>
            <a:ahLst/>
            <a:cxnLst/>
            <a:rect l="l" t="t" r="r" b="b"/>
            <a:pathLst>
              <a:path w="50800" h="2540000">
                <a:moveTo>
                  <a:pt x="50800" y="0"/>
                </a:moveTo>
                <a:lnTo>
                  <a:pt x="50800" y="0"/>
                </a:lnTo>
                <a:lnTo>
                  <a:pt x="50800" y="2540000"/>
                </a:lnTo>
                <a:lnTo>
                  <a:pt x="50800" y="2540000"/>
                </a:lnTo>
                <a:cubicBezTo>
                  <a:pt x="22763" y="2540000"/>
                  <a:pt x="0" y="2517237"/>
                  <a:pt x="0" y="2489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64008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Entropy Coding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6908800"/>
            <a:ext cx="711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Let the emitted symbol stream be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Z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 After entropy coding (e.g., Huffman):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7391400"/>
            <a:ext cx="7010400" cy="6604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98500" y="75438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$L_{\mathrm{avg}} \approx H(Z)$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8204200"/>
            <a:ext cx="711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where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H(Z)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is the symbol entropy.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05800" y="1676400"/>
            <a:ext cx="7442200" cy="2235200"/>
          </a:xfrm>
          <a:custGeom>
            <a:avLst/>
            <a:gdLst/>
            <a:ahLst/>
            <a:cxnLst/>
            <a:rect l="l" t="t" r="r" b="b"/>
            <a:pathLst>
              <a:path w="7442200" h="22352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2133600"/>
                </a:lnTo>
                <a:cubicBezTo>
                  <a:pt x="7442200" y="2189675"/>
                  <a:pt x="7396675" y="2235200"/>
                  <a:pt x="7340600" y="2235200"/>
                </a:cubicBezTo>
                <a:lnTo>
                  <a:pt x="50800" y="2235200"/>
                </a:lnTo>
                <a:cubicBezTo>
                  <a:pt x="22763" y="2235200"/>
                  <a:pt x="0" y="2212437"/>
                  <a:pt x="0" y="218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5" name="Shape 23"/>
          <p:cNvSpPr/>
          <p:nvPr/>
        </p:nvSpPr>
        <p:spPr>
          <a:xfrm>
            <a:off x="8305800" y="1676400"/>
            <a:ext cx="50800" cy="2235200"/>
          </a:xfrm>
          <a:custGeom>
            <a:avLst/>
            <a:gdLst/>
            <a:ahLst/>
            <a:cxnLst/>
            <a:rect l="l" t="t" r="r" b="b"/>
            <a:pathLst>
              <a:path w="50800" h="2235200">
                <a:moveTo>
                  <a:pt x="50800" y="0"/>
                </a:moveTo>
                <a:lnTo>
                  <a:pt x="50800" y="0"/>
                </a:lnTo>
                <a:lnTo>
                  <a:pt x="50800" y="2235200"/>
                </a:lnTo>
                <a:lnTo>
                  <a:pt x="50800" y="2235200"/>
                </a:lnTo>
                <a:cubicBezTo>
                  <a:pt x="22763" y="2235200"/>
                  <a:pt x="0" y="2212437"/>
                  <a:pt x="0" y="218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6" name="Text 24"/>
          <p:cNvSpPr/>
          <p:nvPr/>
        </p:nvSpPr>
        <p:spPr>
          <a:xfrm>
            <a:off x="8534400" y="18796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Important Wording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40750" y="2393950"/>
            <a:ext cx="6997700" cy="1308100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99500" y="2552700"/>
            <a:ext cx="6781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lattice family is used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during calibration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to synthesize a local stride field.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F9FAFB"/>
                </a:solidFill>
                <a:highlight>
                  <a:srgbClr val="8B0000">
                    <a:alpha val="10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Deployment emits a single hardened tensor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not a parent tensor intended for runtime slicing.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05800" y="4114800"/>
            <a:ext cx="7442200" cy="2438400"/>
          </a:xfrm>
          <a:custGeom>
            <a:avLst/>
            <a:gdLst/>
            <a:ahLst/>
            <a:cxnLst/>
            <a:rect l="l" t="t" r="r" b="b"/>
            <a:pathLst>
              <a:path w="7442200" h="24384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2336800"/>
                </a:lnTo>
                <a:cubicBezTo>
                  <a:pt x="7442200" y="2392875"/>
                  <a:pt x="7396675" y="2438400"/>
                  <a:pt x="7340600" y="2438400"/>
                </a:cubicBezTo>
                <a:lnTo>
                  <a:pt x="50800" y="2438400"/>
                </a:lnTo>
                <a:cubicBezTo>
                  <a:pt x="22763" y="2438400"/>
                  <a:pt x="0" y="2415637"/>
                  <a:pt x="0" y="238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0" name="Shape 28"/>
          <p:cNvSpPr/>
          <p:nvPr/>
        </p:nvSpPr>
        <p:spPr>
          <a:xfrm>
            <a:off x="8305800" y="4114800"/>
            <a:ext cx="50800" cy="2438400"/>
          </a:xfrm>
          <a:custGeom>
            <a:avLst/>
            <a:gdLst/>
            <a:ahLst/>
            <a:cxnLst/>
            <a:rect l="l" t="t" r="r" b="b"/>
            <a:pathLst>
              <a:path w="50800" h="2438400">
                <a:moveTo>
                  <a:pt x="50800" y="0"/>
                </a:moveTo>
                <a:lnTo>
                  <a:pt x="50800" y="0"/>
                </a:lnTo>
                <a:lnTo>
                  <a:pt x="50800" y="2438400"/>
                </a:lnTo>
                <a:lnTo>
                  <a:pt x="50800" y="2438400"/>
                </a:lnTo>
                <a:cubicBezTo>
                  <a:pt x="22763" y="2438400"/>
                  <a:pt x="0" y="2415637"/>
                  <a:pt x="0" y="2387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1" name="Text 29"/>
          <p:cNvSpPr/>
          <p:nvPr/>
        </p:nvSpPr>
        <p:spPr>
          <a:xfrm>
            <a:off x="8534400" y="43180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Deployment Pipeline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534400" y="49022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8788400" y="4826000"/>
            <a:ext cx="288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Calibrated weights (continuous)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534400" y="53086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35" name="Text 33"/>
          <p:cNvSpPr/>
          <p:nvPr/>
        </p:nvSpPr>
        <p:spPr>
          <a:xfrm>
            <a:off x="8788400" y="5232400"/>
            <a:ext cx="2616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Site stabilization (hardening)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34400" y="57150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37" name="Text 35"/>
          <p:cNvSpPr/>
          <p:nvPr/>
        </p:nvSpPr>
        <p:spPr>
          <a:xfrm>
            <a:off x="8788400" y="5638800"/>
            <a:ext cx="284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Execution Image (single tensor)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534400" y="612140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8788400" y="6045200"/>
            <a:ext cx="297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Entropy-Coded Execution Image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80400" y="6756400"/>
            <a:ext cx="7467600" cy="1651000"/>
          </a:xfrm>
          <a:prstGeom prst="roundRect">
            <a:avLst>
              <a:gd name="adj" fmla="val 6154"/>
            </a:avLst>
          </a:prstGeom>
          <a:solidFill>
            <a:srgbClr val="8B0000"/>
          </a:solidFill>
          <a:ln/>
        </p:spPr>
      </p:sp>
      <p:sp>
        <p:nvSpPr>
          <p:cNvPr id="41" name="Text 39"/>
          <p:cNvSpPr/>
          <p:nvPr/>
        </p:nvSpPr>
        <p:spPr>
          <a:xfrm>
            <a:off x="8483600" y="6959600"/>
            <a:ext cx="718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One-Line Takeaway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83600" y="7467600"/>
            <a:ext cx="7175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method produces one execution object and one entropy-coded deployed symbol stream.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33400"/>
            <a:ext cx="63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4.1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09861" y="508000"/>
            <a:ext cx="868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Special Case: Two-Pathway Embodiment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0800" y="1117600"/>
            <a:ext cx="145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simplest constrained embodiment of the general method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676400"/>
            <a:ext cx="7442200" cy="2057400"/>
          </a:xfrm>
          <a:custGeom>
            <a:avLst/>
            <a:gdLst/>
            <a:ahLst/>
            <a:cxnLst/>
            <a:rect l="l" t="t" r="r" b="b"/>
            <a:pathLst>
              <a:path w="7442200" h="20574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1955800"/>
                </a:lnTo>
                <a:cubicBezTo>
                  <a:pt x="7442200" y="2011875"/>
                  <a:pt x="7396675" y="2057400"/>
                  <a:pt x="7340600" y="2057400"/>
                </a:cubicBezTo>
                <a:lnTo>
                  <a:pt x="50800" y="2057400"/>
                </a:lnTo>
                <a:cubicBezTo>
                  <a:pt x="22763" y="2057400"/>
                  <a:pt x="0" y="2034637"/>
                  <a:pt x="0" y="2006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676400"/>
            <a:ext cx="50800" cy="2057400"/>
          </a:xfrm>
          <a:custGeom>
            <a:avLst/>
            <a:gdLst/>
            <a:ahLst/>
            <a:cxnLst/>
            <a:rect l="l" t="t" r="r" b="b"/>
            <a:pathLst>
              <a:path w="50800" h="2057400">
                <a:moveTo>
                  <a:pt x="50800" y="0"/>
                </a:moveTo>
                <a:lnTo>
                  <a:pt x="50800" y="0"/>
                </a:lnTo>
                <a:lnTo>
                  <a:pt x="50800" y="2057400"/>
                </a:lnTo>
                <a:lnTo>
                  <a:pt x="50800" y="2057400"/>
                </a:lnTo>
                <a:cubicBezTo>
                  <a:pt x="22763" y="2057400"/>
                  <a:pt x="0" y="2034637"/>
                  <a:pt x="0" y="2006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8796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Lattice Family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387600"/>
            <a:ext cx="711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Set the lattice family to two admissible strides: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870200"/>
            <a:ext cx="7010400" cy="6604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98500" y="30226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$\mathcal{D}_g = \{1, 2\}$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400" y="3937000"/>
            <a:ext cx="7442200" cy="2540000"/>
          </a:xfrm>
          <a:custGeom>
            <a:avLst/>
            <a:gdLst/>
            <a:ahLst/>
            <a:cxnLst/>
            <a:rect l="l" t="t" r="r" b="b"/>
            <a:pathLst>
              <a:path w="7442200" h="25400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2438400"/>
                </a:lnTo>
                <a:cubicBezTo>
                  <a:pt x="7442200" y="2494475"/>
                  <a:pt x="7396675" y="2540000"/>
                  <a:pt x="7340600" y="2540000"/>
                </a:cubicBezTo>
                <a:lnTo>
                  <a:pt x="50800" y="2540000"/>
                </a:lnTo>
                <a:cubicBezTo>
                  <a:pt x="22763" y="2540000"/>
                  <a:pt x="0" y="2517237"/>
                  <a:pt x="0" y="2489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2" name="Shape 10"/>
          <p:cNvSpPr/>
          <p:nvPr/>
        </p:nvSpPr>
        <p:spPr>
          <a:xfrm>
            <a:off x="533400" y="3937000"/>
            <a:ext cx="50800" cy="2540000"/>
          </a:xfrm>
          <a:custGeom>
            <a:avLst/>
            <a:gdLst/>
            <a:ahLst/>
            <a:cxnLst/>
            <a:rect l="l" t="t" r="r" b="b"/>
            <a:pathLst>
              <a:path w="50800" h="2540000">
                <a:moveTo>
                  <a:pt x="50800" y="0"/>
                </a:moveTo>
                <a:lnTo>
                  <a:pt x="50800" y="0"/>
                </a:lnTo>
                <a:lnTo>
                  <a:pt x="50800" y="2540000"/>
                </a:lnTo>
                <a:lnTo>
                  <a:pt x="50800" y="2540000"/>
                </a:lnTo>
                <a:cubicBezTo>
                  <a:pt x="22763" y="2540000"/>
                  <a:pt x="0" y="2517237"/>
                  <a:pt x="0" y="2489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41402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Simplified Local Stride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4648200"/>
            <a:ext cx="711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local stride simplifies to: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130800"/>
            <a:ext cx="7010400" cy="6604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98500" y="52832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$\tilde{d}_{g,i} = 1 + \sigma(\beta_{g,i})$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5943600"/>
            <a:ext cx="711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where scalar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β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replaces the general family logits.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3400" y="6680200"/>
            <a:ext cx="7442200" cy="1828800"/>
          </a:xfrm>
          <a:custGeom>
            <a:avLst/>
            <a:gdLst/>
            <a:ahLst/>
            <a:cxnLst/>
            <a:rect l="l" t="t" r="r" b="b"/>
            <a:pathLst>
              <a:path w="7442200" h="18288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1727200"/>
                </a:lnTo>
                <a:cubicBezTo>
                  <a:pt x="7442200" y="1783275"/>
                  <a:pt x="7396675" y="1828800"/>
                  <a:pt x="7340600" y="1828800"/>
                </a:cubicBez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9" name="Shape 17"/>
          <p:cNvSpPr/>
          <p:nvPr/>
        </p:nvSpPr>
        <p:spPr>
          <a:xfrm>
            <a:off x="533400" y="6680200"/>
            <a:ext cx="50800" cy="1828800"/>
          </a:xfrm>
          <a:custGeom>
            <a:avLst/>
            <a:gdLst/>
            <a:ahLst/>
            <a:cxnLst/>
            <a:rect l="l" t="t" r="r" b="b"/>
            <a:pathLst>
              <a:path w="50800" h="1828800">
                <a:moveTo>
                  <a:pt x="50800" y="0"/>
                </a:moveTo>
                <a:lnTo>
                  <a:pt x="50800" y="0"/>
                </a:lnTo>
                <a:lnTo>
                  <a:pt x="50800" y="1828800"/>
                </a:lnTo>
                <a:lnTo>
                  <a:pt x="50800" y="1828800"/>
                </a:lnTo>
                <a:cubicBezTo>
                  <a:pt x="22763" y="1828800"/>
                  <a:pt x="0" y="1806037"/>
                  <a:pt x="0" y="1778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68834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Simplified Quantizer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7391400"/>
            <a:ext cx="7010400" cy="9144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11200" y="7543800"/>
            <a:ext cx="711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$\hat{w}_{g,i} = s_g\,\tilde{d}_{g,i}\left(\left\lfloor\frac{w_{g,i}/s_g}{\tilde{d}_{g,i}}\right\rfloor+\sigma(\alpha_{g,i})\right)$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05800" y="1676400"/>
            <a:ext cx="7442200" cy="2641600"/>
          </a:xfrm>
          <a:custGeom>
            <a:avLst/>
            <a:gdLst/>
            <a:ahLst/>
            <a:cxnLst/>
            <a:rect l="l" t="t" r="r" b="b"/>
            <a:pathLst>
              <a:path w="7442200" h="26416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2540000"/>
                </a:lnTo>
                <a:cubicBezTo>
                  <a:pt x="7442200" y="2596075"/>
                  <a:pt x="7396675" y="2641600"/>
                  <a:pt x="7340600" y="2641600"/>
                </a:cubicBezTo>
                <a:lnTo>
                  <a:pt x="50800" y="2641600"/>
                </a:lnTo>
                <a:cubicBezTo>
                  <a:pt x="22763" y="2641600"/>
                  <a:pt x="0" y="2618837"/>
                  <a:pt x="0" y="259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4" name="Shape 22"/>
          <p:cNvSpPr/>
          <p:nvPr/>
        </p:nvSpPr>
        <p:spPr>
          <a:xfrm>
            <a:off x="8305800" y="1676400"/>
            <a:ext cx="50800" cy="2641600"/>
          </a:xfrm>
          <a:custGeom>
            <a:avLst/>
            <a:gdLst/>
            <a:ahLst/>
            <a:cxnLst/>
            <a:rect l="l" t="t" r="r" b="b"/>
            <a:pathLst>
              <a:path w="50800" h="2641600">
                <a:moveTo>
                  <a:pt x="50800" y="0"/>
                </a:moveTo>
                <a:lnTo>
                  <a:pt x="50800" y="0"/>
                </a:lnTo>
                <a:lnTo>
                  <a:pt x="50800" y="2641600"/>
                </a:lnTo>
                <a:lnTo>
                  <a:pt x="50800" y="2641600"/>
                </a:lnTo>
                <a:cubicBezTo>
                  <a:pt x="22763" y="2641600"/>
                  <a:pt x="0" y="2618837"/>
                  <a:pt x="0" y="259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5" name="Text 23"/>
          <p:cNvSpPr/>
          <p:nvPr/>
        </p:nvSpPr>
        <p:spPr>
          <a:xfrm>
            <a:off x="8534400" y="18796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Interpretation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34400" y="2387600"/>
            <a:ext cx="7112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This special case has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F9FAFB"/>
                </a:solidFill>
                <a:highlight>
                  <a:srgbClr val="8B0000">
                    <a:alpha val="100000"/>
                  </a:srgbClr>
                </a:highlight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two admissible hopping regimes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over the same carrier structure: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34400" y="32004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8483600" y="32004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093200" y="3251200"/>
            <a:ext cx="2108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Stride ≈ 1 (fine-grained)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34400" y="37084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8483600" y="3708400"/>
            <a:ext cx="508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93200" y="3759200"/>
            <a:ext cx="2349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Stride ≈ 2 (coarse-grained)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05800" y="4521200"/>
            <a:ext cx="7442200" cy="1905000"/>
          </a:xfrm>
          <a:custGeom>
            <a:avLst/>
            <a:gdLst/>
            <a:ahLst/>
            <a:cxnLst/>
            <a:rect l="l" t="t" r="r" b="b"/>
            <a:pathLst>
              <a:path w="7442200" h="19050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1803400"/>
                </a:lnTo>
                <a:cubicBezTo>
                  <a:pt x="7442200" y="1859475"/>
                  <a:pt x="7396675" y="1905000"/>
                  <a:pt x="7340600" y="1905000"/>
                </a:cubicBezTo>
                <a:lnTo>
                  <a:pt x="50800" y="1905000"/>
                </a:lnTo>
                <a:cubicBezTo>
                  <a:pt x="22763" y="1905000"/>
                  <a:pt x="0" y="1882237"/>
                  <a:pt x="0" y="1854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4" name="Shape 32"/>
          <p:cNvSpPr/>
          <p:nvPr/>
        </p:nvSpPr>
        <p:spPr>
          <a:xfrm>
            <a:off x="8305800" y="4521200"/>
            <a:ext cx="50800" cy="1905000"/>
          </a:xfrm>
          <a:custGeom>
            <a:avLst/>
            <a:gdLst/>
            <a:ahLst/>
            <a:cxnLst/>
            <a:rect l="l" t="t" r="r" b="b"/>
            <a:pathLst>
              <a:path w="50800" h="1905000">
                <a:moveTo>
                  <a:pt x="50800" y="0"/>
                </a:moveTo>
                <a:lnTo>
                  <a:pt x="50800" y="0"/>
                </a:lnTo>
                <a:lnTo>
                  <a:pt x="50800" y="1905000"/>
                </a:lnTo>
                <a:lnTo>
                  <a:pt x="50800" y="1905000"/>
                </a:lnTo>
                <a:cubicBezTo>
                  <a:pt x="22763" y="1905000"/>
                  <a:pt x="0" y="1882237"/>
                  <a:pt x="0" y="1854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5" name="Text 33"/>
          <p:cNvSpPr/>
          <p:nvPr/>
        </p:nvSpPr>
        <p:spPr>
          <a:xfrm>
            <a:off x="8534400" y="4724400"/>
            <a:ext cx="7137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Scope Clarification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40750" y="5238750"/>
            <a:ext cx="6997700" cy="977900"/>
          </a:xfrm>
          <a:prstGeom prst="roundRect">
            <a:avLst>
              <a:gd name="adj" fmla="val 10390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99500" y="5397500"/>
            <a:ext cx="6781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This is the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simplest embodiment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, not the core scope of the invention. The general method supports arbitrary lattice families.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80400" y="6629400"/>
            <a:ext cx="7467600" cy="1651000"/>
          </a:xfrm>
          <a:prstGeom prst="roundRect">
            <a:avLst>
              <a:gd name="adj" fmla="val 6154"/>
            </a:avLst>
          </a:prstGeom>
          <a:solidFill>
            <a:srgbClr val="8B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8483600" y="6832600"/>
            <a:ext cx="7188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One-Line Takeaway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83600" y="7340600"/>
            <a:ext cx="71755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two-lattice formulation is the simplest embodiment, not the core scope of the invention.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33400"/>
            <a:ext cx="33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B000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01291" y="508000"/>
            <a:ext cx="5118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Claim-Facing Summary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0800" y="1117600"/>
            <a:ext cx="145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6B7280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Structured claims for the lattice-family calibration invention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3400" y="1676400"/>
            <a:ext cx="7493000" cy="2133600"/>
          </a:xfrm>
          <a:custGeom>
            <a:avLst/>
            <a:gdLst/>
            <a:ahLst/>
            <a:cxnLst/>
            <a:rect l="l" t="t" r="r" b="b"/>
            <a:pathLst>
              <a:path w="7493000" h="2133600">
                <a:moveTo>
                  <a:pt x="50800" y="0"/>
                </a:moveTo>
                <a:lnTo>
                  <a:pt x="7391400" y="0"/>
                </a:lnTo>
                <a:cubicBezTo>
                  <a:pt x="7447475" y="0"/>
                  <a:pt x="7493000" y="45525"/>
                  <a:pt x="7493000" y="101600"/>
                </a:cubicBezTo>
                <a:lnTo>
                  <a:pt x="7493000" y="2032000"/>
                </a:lnTo>
                <a:cubicBezTo>
                  <a:pt x="7493000" y="2088075"/>
                  <a:pt x="7447475" y="2133600"/>
                  <a:pt x="7391400" y="2133600"/>
                </a:cubicBezTo>
                <a:lnTo>
                  <a:pt x="50800" y="2133600"/>
                </a:lnTo>
                <a:cubicBezTo>
                  <a:pt x="22763" y="2133600"/>
                  <a:pt x="0" y="2110837"/>
                  <a:pt x="0" y="208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676400"/>
            <a:ext cx="50800" cy="2133600"/>
          </a:xfrm>
          <a:custGeom>
            <a:avLst/>
            <a:gdLst/>
            <a:ahLst/>
            <a:cxnLst/>
            <a:rect l="l" t="t" r="r" b="b"/>
            <a:pathLst>
              <a:path w="50800" h="2133600">
                <a:moveTo>
                  <a:pt x="50800" y="0"/>
                </a:moveTo>
                <a:lnTo>
                  <a:pt x="50800" y="0"/>
                </a:lnTo>
                <a:lnTo>
                  <a:pt x="50800" y="2133600"/>
                </a:lnTo>
                <a:lnTo>
                  <a:pt x="50800" y="2133600"/>
                </a:lnTo>
                <a:cubicBezTo>
                  <a:pt x="22763" y="2133600"/>
                  <a:pt x="0" y="2110837"/>
                  <a:pt x="0" y="208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8796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8" name="Text 6"/>
          <p:cNvSpPr/>
          <p:nvPr/>
        </p:nvSpPr>
        <p:spPr>
          <a:xfrm>
            <a:off x="704850" y="18796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22400" y="1879600"/>
            <a:ext cx="6515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Post-Training Quantization Framework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22400" y="2336800"/>
            <a:ext cx="6502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Over a carrier lattice and a lattice family of admissible displacement strides: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22400" y="3098800"/>
            <a:ext cx="6400800" cy="50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200400"/>
            <a:ext cx="650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$\mathcal{L}_g^{(k)} = \{n\,d_g^{(k)}\}$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3400" y="3962400"/>
            <a:ext cx="7493000" cy="1803400"/>
          </a:xfrm>
          <a:custGeom>
            <a:avLst/>
            <a:gdLst/>
            <a:ahLst/>
            <a:cxnLst/>
            <a:rect l="l" t="t" r="r" b="b"/>
            <a:pathLst>
              <a:path w="7493000" h="1803400">
                <a:moveTo>
                  <a:pt x="50800" y="0"/>
                </a:moveTo>
                <a:lnTo>
                  <a:pt x="7391400" y="0"/>
                </a:lnTo>
                <a:cubicBezTo>
                  <a:pt x="7447475" y="0"/>
                  <a:pt x="7493000" y="45525"/>
                  <a:pt x="7493000" y="101600"/>
                </a:cubicBezTo>
                <a:lnTo>
                  <a:pt x="7493000" y="1701800"/>
                </a:lnTo>
                <a:cubicBezTo>
                  <a:pt x="7493000" y="1757875"/>
                  <a:pt x="7447475" y="1803400"/>
                  <a:pt x="7391400" y="1803400"/>
                </a:cubicBezTo>
                <a:lnTo>
                  <a:pt x="50800" y="1803400"/>
                </a:lnTo>
                <a:cubicBezTo>
                  <a:pt x="22763" y="1803400"/>
                  <a:pt x="0" y="1780637"/>
                  <a:pt x="0" y="1752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4" name="Shape 12"/>
          <p:cNvSpPr/>
          <p:nvPr/>
        </p:nvSpPr>
        <p:spPr>
          <a:xfrm>
            <a:off x="533400" y="3962400"/>
            <a:ext cx="50800" cy="1803400"/>
          </a:xfrm>
          <a:custGeom>
            <a:avLst/>
            <a:gdLst/>
            <a:ahLst/>
            <a:cxnLst/>
            <a:rect l="l" t="t" r="r" b="b"/>
            <a:pathLst>
              <a:path w="50800" h="1803400">
                <a:moveTo>
                  <a:pt x="50800" y="0"/>
                </a:moveTo>
                <a:lnTo>
                  <a:pt x="50800" y="0"/>
                </a:lnTo>
                <a:lnTo>
                  <a:pt x="50800" y="1803400"/>
                </a:lnTo>
                <a:lnTo>
                  <a:pt x="50800" y="1803400"/>
                </a:lnTo>
                <a:cubicBezTo>
                  <a:pt x="22763" y="1803400"/>
                  <a:pt x="0" y="1780637"/>
                  <a:pt x="0" y="1752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41656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704850" y="41656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22400" y="4165600"/>
            <a:ext cx="553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Per-Weight Learnable Stride Field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22400" y="4622800"/>
            <a:ext cx="55245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Over the lattice family: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422400" y="5054600"/>
            <a:ext cx="5422900" cy="50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5156200"/>
            <a:ext cx="552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$\pi_{g,i}^{(k)} = \operatorname{softmax}(\gamma_{g,i}^{(k)}/T)$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3400" y="5918200"/>
            <a:ext cx="7493000" cy="1803400"/>
          </a:xfrm>
          <a:custGeom>
            <a:avLst/>
            <a:gdLst/>
            <a:ahLst/>
            <a:cxnLst/>
            <a:rect l="l" t="t" r="r" b="b"/>
            <a:pathLst>
              <a:path w="7493000" h="1803400">
                <a:moveTo>
                  <a:pt x="50800" y="0"/>
                </a:moveTo>
                <a:lnTo>
                  <a:pt x="7391400" y="0"/>
                </a:lnTo>
                <a:cubicBezTo>
                  <a:pt x="7447475" y="0"/>
                  <a:pt x="7493000" y="45525"/>
                  <a:pt x="7493000" y="101600"/>
                </a:cubicBezTo>
                <a:lnTo>
                  <a:pt x="7493000" y="1701800"/>
                </a:lnTo>
                <a:cubicBezTo>
                  <a:pt x="7493000" y="1757875"/>
                  <a:pt x="7447475" y="1803400"/>
                  <a:pt x="7391400" y="1803400"/>
                </a:cubicBezTo>
                <a:lnTo>
                  <a:pt x="50800" y="1803400"/>
                </a:lnTo>
                <a:cubicBezTo>
                  <a:pt x="22763" y="1803400"/>
                  <a:pt x="0" y="1780637"/>
                  <a:pt x="0" y="1752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2" name="Shape 20"/>
          <p:cNvSpPr/>
          <p:nvPr/>
        </p:nvSpPr>
        <p:spPr>
          <a:xfrm>
            <a:off x="533400" y="5918200"/>
            <a:ext cx="50800" cy="1803400"/>
          </a:xfrm>
          <a:custGeom>
            <a:avLst/>
            <a:gdLst/>
            <a:ahLst/>
            <a:cxnLst/>
            <a:rect l="l" t="t" r="r" b="b"/>
            <a:pathLst>
              <a:path w="50800" h="1803400">
                <a:moveTo>
                  <a:pt x="50800" y="0"/>
                </a:moveTo>
                <a:lnTo>
                  <a:pt x="50800" y="0"/>
                </a:lnTo>
                <a:lnTo>
                  <a:pt x="50800" y="1803400"/>
                </a:lnTo>
                <a:lnTo>
                  <a:pt x="50800" y="1803400"/>
                </a:lnTo>
                <a:cubicBezTo>
                  <a:pt x="22763" y="1803400"/>
                  <a:pt x="0" y="1780637"/>
                  <a:pt x="0" y="1752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62000" y="61214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704850" y="61214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22400" y="6121400"/>
            <a:ext cx="509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Per-Weight Site-Relaxation Projector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22400" y="6578600"/>
            <a:ext cx="5080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Between neighboring lattice sites: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422400" y="7010400"/>
            <a:ext cx="4978400" cy="50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" y="7112000"/>
            <a:ext cx="508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$\left\lfloor \frac{c}{\tilde d}\right\rfloor + \sigma(\alpha)$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55000" y="1676400"/>
            <a:ext cx="7493000" cy="2108200"/>
          </a:xfrm>
          <a:custGeom>
            <a:avLst/>
            <a:gdLst/>
            <a:ahLst/>
            <a:cxnLst/>
            <a:rect l="l" t="t" r="r" b="b"/>
            <a:pathLst>
              <a:path w="7493000" h="2108200">
                <a:moveTo>
                  <a:pt x="50800" y="0"/>
                </a:moveTo>
                <a:lnTo>
                  <a:pt x="7391400" y="0"/>
                </a:lnTo>
                <a:cubicBezTo>
                  <a:pt x="7447475" y="0"/>
                  <a:pt x="7493000" y="45525"/>
                  <a:pt x="7493000" y="101600"/>
                </a:cubicBezTo>
                <a:lnTo>
                  <a:pt x="7493000" y="2006600"/>
                </a:lnTo>
                <a:cubicBezTo>
                  <a:pt x="7493000" y="2062675"/>
                  <a:pt x="7447475" y="2108200"/>
                  <a:pt x="7391400" y="2108200"/>
                </a:cubicBezTo>
                <a:lnTo>
                  <a:pt x="50800" y="2108200"/>
                </a:lnTo>
                <a:cubicBezTo>
                  <a:pt x="22763" y="2108200"/>
                  <a:pt x="0" y="2085437"/>
                  <a:pt x="0" y="2057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0" name="Shape 28"/>
          <p:cNvSpPr/>
          <p:nvPr/>
        </p:nvSpPr>
        <p:spPr>
          <a:xfrm>
            <a:off x="8255000" y="1676400"/>
            <a:ext cx="50800" cy="2108200"/>
          </a:xfrm>
          <a:custGeom>
            <a:avLst/>
            <a:gdLst/>
            <a:ahLst/>
            <a:cxnLst/>
            <a:rect l="l" t="t" r="r" b="b"/>
            <a:pathLst>
              <a:path w="50800" h="2108200">
                <a:moveTo>
                  <a:pt x="50800" y="0"/>
                </a:moveTo>
                <a:lnTo>
                  <a:pt x="50800" y="0"/>
                </a:lnTo>
                <a:lnTo>
                  <a:pt x="50800" y="2108200"/>
                </a:lnTo>
                <a:lnTo>
                  <a:pt x="50800" y="2108200"/>
                </a:lnTo>
                <a:cubicBezTo>
                  <a:pt x="22763" y="2108200"/>
                  <a:pt x="0" y="2085437"/>
                  <a:pt x="0" y="2057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8483600" y="18796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8426450" y="18796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44000" y="1879600"/>
            <a:ext cx="6515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Joint Optimization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44000" y="2336800"/>
            <a:ext cx="6502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Of stride selection and site relaxation under single reconstruction energy: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144000" y="2768600"/>
            <a:ext cx="6400800" cy="8128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9093200" y="2870200"/>
            <a:ext cx="6502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$\mathcal{E} = \mathcal{L}_{\mathrm{rec}} + \mathcal{L}_{\alpha} + \mathcal{L}_{\Gamma}$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55000" y="3937000"/>
            <a:ext cx="7493000" cy="1193800"/>
          </a:xfrm>
          <a:custGeom>
            <a:avLst/>
            <a:gdLst/>
            <a:ahLst/>
            <a:cxnLst/>
            <a:rect l="l" t="t" r="r" b="b"/>
            <a:pathLst>
              <a:path w="7493000" h="1193800">
                <a:moveTo>
                  <a:pt x="50800" y="0"/>
                </a:moveTo>
                <a:lnTo>
                  <a:pt x="7391400" y="0"/>
                </a:lnTo>
                <a:cubicBezTo>
                  <a:pt x="7447475" y="0"/>
                  <a:pt x="7493000" y="45525"/>
                  <a:pt x="7493000" y="101600"/>
                </a:cubicBezTo>
                <a:lnTo>
                  <a:pt x="7493000" y="1092200"/>
                </a:lnTo>
                <a:cubicBezTo>
                  <a:pt x="7493000" y="1148275"/>
                  <a:pt x="7447475" y="1193800"/>
                  <a:pt x="7391400" y="1193800"/>
                </a:cubicBezTo>
                <a:lnTo>
                  <a:pt x="50800" y="1193800"/>
                </a:lnTo>
                <a:cubicBezTo>
                  <a:pt x="22763" y="1193800"/>
                  <a:pt x="0" y="1171037"/>
                  <a:pt x="0" y="1143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8" name="Shape 36"/>
          <p:cNvSpPr/>
          <p:nvPr/>
        </p:nvSpPr>
        <p:spPr>
          <a:xfrm>
            <a:off x="8255000" y="3937000"/>
            <a:ext cx="50800" cy="1193800"/>
          </a:xfrm>
          <a:custGeom>
            <a:avLst/>
            <a:gdLst/>
            <a:ahLst/>
            <a:cxnLst/>
            <a:rect l="l" t="t" r="r" b="b"/>
            <a:pathLst>
              <a:path w="50800" h="1193800">
                <a:moveTo>
                  <a:pt x="50800" y="0"/>
                </a:moveTo>
                <a:lnTo>
                  <a:pt x="50800" y="0"/>
                </a:lnTo>
                <a:lnTo>
                  <a:pt x="50800" y="1193800"/>
                </a:lnTo>
                <a:lnTo>
                  <a:pt x="50800" y="1193800"/>
                </a:lnTo>
                <a:cubicBezTo>
                  <a:pt x="22763" y="1193800"/>
                  <a:pt x="0" y="1171037"/>
                  <a:pt x="0" y="1143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8483600" y="41402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40" name="Text 38"/>
          <p:cNvSpPr/>
          <p:nvPr/>
        </p:nvSpPr>
        <p:spPr>
          <a:xfrm>
            <a:off x="8426450" y="41402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44000" y="4140200"/>
            <a:ext cx="6007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Hardening for Deployment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144000" y="4597400"/>
            <a:ext cx="59944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Into final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Execution Image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and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Entropy-Coded Execution Image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55000" y="5283200"/>
            <a:ext cx="7493000" cy="1803400"/>
          </a:xfrm>
          <a:custGeom>
            <a:avLst/>
            <a:gdLst/>
            <a:ahLst/>
            <a:cxnLst/>
            <a:rect l="l" t="t" r="r" b="b"/>
            <a:pathLst>
              <a:path w="7493000" h="1803400">
                <a:moveTo>
                  <a:pt x="50800" y="0"/>
                </a:moveTo>
                <a:lnTo>
                  <a:pt x="7391400" y="0"/>
                </a:lnTo>
                <a:cubicBezTo>
                  <a:pt x="7447475" y="0"/>
                  <a:pt x="7493000" y="45525"/>
                  <a:pt x="7493000" y="101600"/>
                </a:cubicBezTo>
                <a:lnTo>
                  <a:pt x="7493000" y="1701800"/>
                </a:lnTo>
                <a:cubicBezTo>
                  <a:pt x="7493000" y="1757875"/>
                  <a:pt x="7447475" y="1803400"/>
                  <a:pt x="7391400" y="1803400"/>
                </a:cubicBezTo>
                <a:lnTo>
                  <a:pt x="50800" y="1803400"/>
                </a:lnTo>
                <a:cubicBezTo>
                  <a:pt x="22763" y="1803400"/>
                  <a:pt x="0" y="1780637"/>
                  <a:pt x="0" y="1752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44" name="Shape 42"/>
          <p:cNvSpPr/>
          <p:nvPr/>
        </p:nvSpPr>
        <p:spPr>
          <a:xfrm>
            <a:off x="8255000" y="5283200"/>
            <a:ext cx="50800" cy="1803400"/>
          </a:xfrm>
          <a:custGeom>
            <a:avLst/>
            <a:gdLst/>
            <a:ahLst/>
            <a:cxnLst/>
            <a:rect l="l" t="t" r="r" b="b"/>
            <a:pathLst>
              <a:path w="50800" h="1803400">
                <a:moveTo>
                  <a:pt x="50800" y="0"/>
                </a:moveTo>
                <a:lnTo>
                  <a:pt x="50800" y="0"/>
                </a:lnTo>
                <a:lnTo>
                  <a:pt x="50800" y="1803400"/>
                </a:lnTo>
                <a:lnTo>
                  <a:pt x="50800" y="1803400"/>
                </a:lnTo>
                <a:cubicBezTo>
                  <a:pt x="22763" y="1803400"/>
                  <a:pt x="0" y="1780637"/>
                  <a:pt x="0" y="1752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B0000"/>
          </a:solidFill>
          <a:ln/>
        </p:spPr>
      </p:sp>
      <p:sp>
        <p:nvSpPr>
          <p:cNvPr id="45" name="Shape 43"/>
          <p:cNvSpPr/>
          <p:nvPr/>
        </p:nvSpPr>
        <p:spPr>
          <a:xfrm>
            <a:off x="8483600" y="5486400"/>
            <a:ext cx="508000" cy="508000"/>
          </a:xfrm>
          <a:prstGeom prst="roundRect">
            <a:avLst>
              <a:gd name="adj" fmla="val 50000"/>
            </a:avLst>
          </a:prstGeom>
          <a:solidFill>
            <a:srgbClr val="8B0000"/>
          </a:solidFill>
          <a:ln/>
        </p:spPr>
      </p:sp>
      <p:sp>
        <p:nvSpPr>
          <p:cNvPr id="46" name="Text 44"/>
          <p:cNvSpPr/>
          <p:nvPr/>
        </p:nvSpPr>
        <p:spPr>
          <a:xfrm>
            <a:off x="8426450" y="54864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6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144000" y="5486400"/>
            <a:ext cx="402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Simplified Two-Pathway Embodiment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144000" y="5943600"/>
            <a:ext cx="40132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With: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144000" y="6375400"/>
            <a:ext cx="3911600" cy="508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9093200" y="6477000"/>
            <a:ext cx="401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$\mathcal{D}_g = \{1, 2\}$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08000" y="7924800"/>
            <a:ext cx="15240000" cy="1651000"/>
          </a:xfrm>
          <a:prstGeom prst="roundRect">
            <a:avLst>
              <a:gd name="adj" fmla="val 6154"/>
            </a:avLst>
          </a:prstGeom>
          <a:solidFill>
            <a:srgbClr val="8B0000"/>
          </a:solidFill>
          <a:ln/>
        </p:spPr>
      </p:sp>
      <p:sp>
        <p:nvSpPr>
          <p:cNvPr id="52" name="Text 50"/>
          <p:cNvSpPr/>
          <p:nvPr/>
        </p:nvSpPr>
        <p:spPr>
          <a:xfrm>
            <a:off x="711200" y="8128000"/>
            <a:ext cx="14960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Closing Statement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11200" y="8636000"/>
            <a:ext cx="149479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9FAF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invention is a lattice-family calibration mechanism that learns a local stride field and a neighboring-site relaxation field, then stabilizes them into a single entropy-coded execution image.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Lattice-Family Calibration for Post-Training Quantization</dc:title>
  <dc:subject>Lattice-Family Calibration for Post-Training Quantization</dc:subject>
  <dc:creator>Kimi</dc:creator>
  <cp:lastModifiedBy>Kimi</cp:lastModifiedBy>
  <cp:revision>1</cp:revision>
  <dcterms:created xsi:type="dcterms:W3CDTF">2026-04-23T19:51:37Z</dcterms:created>
  <dcterms:modified xsi:type="dcterms:W3CDTF">2026-04-23T19:51:37Z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{"Label":"Lattice-Family Calibration for Post-Training Quantization","ContentProducer":"001191110108MACG2KBH8F10000","ProduceID":"","ReservedCode1":"","ContentPropagator":"001191110108MACG2KBH8F20000","PropagateID":"","ReservedCode2":""}</vt:lpwstr>
  </property>
</Properties>
</file>